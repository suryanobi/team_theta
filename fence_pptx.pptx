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Comic Sans" charset="1" panose="03000702030302020204"/>
      <p:regular r:id="rId12"/>
    </p:embeddedFont>
    <p:embeddedFont>
      <p:font typeface="Garamond Bold" charset="1" panose="02020804030307010803"/>
      <p:regular r:id="rId13"/>
    </p:embeddedFont>
    <p:embeddedFont>
      <p:font typeface="Arial" charset="1" panose="020B0604020202020204"/>
      <p:regular r:id="rId14"/>
    </p:embeddedFont>
    <p:embeddedFont>
      <p:font typeface="Arial Bold" charset="1" panose="020B0704020202020204"/>
      <p:regular r:id="rId15"/>
    </p:embeddedFont>
    <p:embeddedFont>
      <p:font typeface="Times New Roman Bold" charset="1" panose="02030802070405020303"/>
      <p:regular r:id="rId19"/>
    </p:embeddedFont>
    <p:embeddedFont>
      <p:font typeface="Arimo Bold" charset="1" panose="020B0704020202020204"/>
      <p:regular r:id="rId20"/>
    </p:embeddedFont>
    <p:embeddedFont>
      <p:font typeface="Arimo" charset="1" panose="020B0604020202020204"/>
      <p:regular r:id="rId21"/>
    </p:embeddedFont>
    <p:embeddedFont>
      <p:font typeface="Garamond" charset="1" panose="02020404030301010803"/>
      <p:regular r:id="rId22"/>
    </p:embeddedFont>
    <p:embeddedFont>
      <p:font typeface="Times New Roman" charset="1" panose="02030502070405020303"/>
      <p:regular r:id="rId23"/>
    </p:embeddedFont>
    <p:embeddedFont>
      <p:font typeface="Calibri (MS)" charset="1" panose="020F0502020204030204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notesMasters/notesMaster1.xml" Type="http://schemas.openxmlformats.org/officeDocument/2006/relationships/notesMaster"/><Relationship Id="rId17" Target="theme/theme2.xml" Type="http://schemas.openxmlformats.org/officeDocument/2006/relationships/theme"/><Relationship Id="rId18" Target="notesSlides/notesSlide1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notesSlides/notesSlide2.xml" Type="http://schemas.openxmlformats.org/officeDocument/2006/relationships/notesSlide"/><Relationship Id="rId25" Target="fonts/font25.fntdata" Type="http://schemas.openxmlformats.org/officeDocument/2006/relationships/font"/><Relationship Id="rId26" Target="notesSlides/notesSlide3.xml" Type="http://schemas.openxmlformats.org/officeDocument/2006/relationships/notesSlide"/><Relationship Id="rId27" Target="notesSlides/notesSlide4.xml" Type="http://schemas.openxmlformats.org/officeDocument/2006/relationships/notesSlide"/><Relationship Id="rId28" Target="notesSlides/notesSlide5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4.png" Type="http://schemas.openxmlformats.org/officeDocument/2006/relationships/image"/><Relationship Id="rId4" Target="../media/image7.png" Type="http://schemas.openxmlformats.org/officeDocument/2006/relationships/image"/><Relationship Id="rId5" Target="https://go.screenpal.com/watch/cTQbfrnoN6L" TargetMode="External" Type="http://schemas.openxmlformats.org/officeDocument/2006/relationships/hyperlink"/><Relationship Id="rId6" Target="https://go.screenpal.com/watch/cTQbfrnoN6N" TargetMode="External" Type="http://schemas.openxmlformats.org/officeDocument/2006/relationships/hyperlink"/><Relationship Id="rId7" Target="https://pdf.ac/uHFubpK6_X" TargetMode="External" Type="http://schemas.openxmlformats.org/officeDocument/2006/relationships/hyperlink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4.png" Type="http://schemas.openxmlformats.org/officeDocument/2006/relationships/image"/><Relationship Id="rId4" Target="../media/image8.jpeg" Type="http://schemas.openxmlformats.org/officeDocument/2006/relationships/image"/><Relationship Id="rId5" Target="../media/image9.png" Type="http://schemas.openxmlformats.org/officeDocument/2006/relationships/image"/><Relationship Id="rId6" Target="../media/image10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4.png" Type="http://schemas.openxmlformats.org/officeDocument/2006/relationships/image"/><Relationship Id="rId4" Target="../media/image11.jpeg" Type="http://schemas.openxmlformats.org/officeDocument/2006/relationships/image"/><Relationship Id="rId5" Target="../media/image12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4.png" Type="http://schemas.openxmlformats.org/officeDocument/2006/relationships/image"/><Relationship Id="rId4" Target="../media/image13.png" Type="http://schemas.openxmlformats.org/officeDocument/2006/relationships/image"/><Relationship Id="rId5" Target="https://ieeexplore.ieee.org/document/10080302" TargetMode="External" Type="http://schemas.openxmlformats.org/officeDocument/2006/relationships/hyperlink"/><Relationship Id="rId6" Target="https://law.resource.org/pub/in/bis/S05/is.302.2.76.1999.pdf" TargetMode="External" Type="http://schemas.openxmlformats.org/officeDocument/2006/relationships/hyperlink"/><Relationship Id="rId7" Target="../media/image14.png" Type="http://schemas.openxmlformats.org/officeDocument/2006/relationships/image"/><Relationship Id="rId8" Target="../embeddings/oleObject1.bin" Type="http://schemas.openxmlformats.org/officeDocument/2006/relationships/oleObjec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620657" y="2081034"/>
            <a:ext cx="6282784" cy="6982173"/>
          </a:xfrm>
          <a:custGeom>
            <a:avLst/>
            <a:gdLst/>
            <a:ahLst/>
            <a:cxnLst/>
            <a:rect r="r" b="b" t="t" l="l"/>
            <a:pathLst>
              <a:path h="6982173" w="6282784">
                <a:moveTo>
                  <a:pt x="0" y="0"/>
                </a:moveTo>
                <a:lnTo>
                  <a:pt x="6282784" y="0"/>
                </a:lnTo>
                <a:lnTo>
                  <a:pt x="6282784" y="6982173"/>
                </a:lnTo>
                <a:lnTo>
                  <a:pt x="0" y="69821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>
            <a:grpSpLocks noChangeAspect="true"/>
          </p:cNvGrpSpPr>
          <p:nvPr/>
        </p:nvGrpSpPr>
        <p:grpSpPr>
          <a:xfrm rot="0">
            <a:off x="13429214" y="4257036"/>
            <a:ext cx="4070545" cy="4353555"/>
            <a:chOff x="0" y="0"/>
            <a:chExt cx="6407018" cy="685247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407023" cy="6852412"/>
            </a:xfrm>
            <a:custGeom>
              <a:avLst/>
              <a:gdLst/>
              <a:ahLst/>
              <a:cxnLst/>
              <a:rect r="r" b="b" t="t" l="l"/>
              <a:pathLst>
                <a:path h="6852412" w="6407023">
                  <a:moveTo>
                    <a:pt x="0" y="0"/>
                  </a:moveTo>
                  <a:lnTo>
                    <a:pt x="6407023" y="0"/>
                  </a:lnTo>
                  <a:lnTo>
                    <a:pt x="6407023" y="6852412"/>
                  </a:lnTo>
                  <a:lnTo>
                    <a:pt x="0" y="68524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49475" b="-1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485971" y="851596"/>
            <a:ext cx="12443280" cy="161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17"/>
              </a:lnSpc>
            </a:pPr>
          </a:p>
          <a:p>
            <a:pPr algn="ctr">
              <a:lnSpc>
                <a:spcPts val="6000"/>
              </a:lnSpc>
            </a:pPr>
            <a:r>
              <a:rPr lang="en-US" sz="5000">
                <a:solidFill>
                  <a:srgbClr val="1F497D"/>
                </a:solidFill>
                <a:latin typeface="Comic Sans"/>
                <a:ea typeface="Comic Sans"/>
                <a:cs typeface="Comic Sans"/>
                <a:sym typeface="Comic Sans"/>
              </a:rPr>
              <a:t>FENCE MONITOR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983695" y="-115811"/>
            <a:ext cx="12218420" cy="2198068"/>
            <a:chOff x="0" y="0"/>
            <a:chExt cx="22167491" cy="398788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167490" cy="3987884"/>
            </a:xfrm>
            <a:custGeom>
              <a:avLst/>
              <a:gdLst/>
              <a:ahLst/>
              <a:cxnLst/>
              <a:rect r="r" b="b" t="t" l="l"/>
              <a:pathLst>
                <a:path h="3987884" w="22167490">
                  <a:moveTo>
                    <a:pt x="0" y="0"/>
                  </a:moveTo>
                  <a:lnTo>
                    <a:pt x="22167490" y="0"/>
                  </a:lnTo>
                  <a:lnTo>
                    <a:pt x="22167490" y="3987884"/>
                  </a:lnTo>
                  <a:lnTo>
                    <a:pt x="0" y="398788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22167491" cy="40069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1F497D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SMART INDIA HACKATHON 2025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492753" y="2505075"/>
            <a:ext cx="13254589" cy="61055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</a:p>
          <a:p>
            <a:pPr algn="just" marL="497702" indent="-248851" lvl="1">
              <a:lnSpc>
                <a:spcPts val="6600"/>
              </a:lnSpc>
              <a:buFont typeface="Arial"/>
              <a:buChar char="•"/>
            </a:pPr>
            <a:r>
              <a:rPr lang="en-US" sz="2750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Problem Statement ID:</a:t>
            </a:r>
            <a:r>
              <a:rPr lang="en-US" b="true" sz="2750">
                <a:solidFill>
                  <a:srgbClr val="191919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b="true" sz="2750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</a:rPr>
              <a:t>SIH25077</a:t>
            </a:r>
          </a:p>
          <a:p>
            <a:pPr algn="just" marL="497353" indent="-248676" lvl="1">
              <a:lnSpc>
                <a:spcPts val="6600"/>
              </a:lnSpc>
              <a:buFont typeface="Arial"/>
              <a:buChar char="•"/>
            </a:pPr>
            <a:r>
              <a:rPr lang="en-US" sz="2750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Problem Statement Title: </a:t>
            </a:r>
            <a:r>
              <a:rPr lang="en-US" b="true" sz="2750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</a:rPr>
              <a:t>“</a:t>
            </a:r>
            <a:r>
              <a:rPr lang="en-US" b="true" sz="2750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</a:rPr>
              <a:t>A hardware that can detect and prevent               </a:t>
            </a:r>
            <a:r>
              <a:rPr lang="en-US" b="true" sz="2750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</a:rPr>
              <a:t>                                           unauthorized use of electric fences”</a:t>
            </a:r>
          </a:p>
          <a:p>
            <a:pPr algn="just" marL="497702" indent="-248851" lvl="1">
              <a:lnSpc>
                <a:spcPts val="6600"/>
              </a:lnSpc>
              <a:buFont typeface="Arial"/>
              <a:buChar char="•"/>
            </a:pPr>
            <a:r>
              <a:rPr lang="en-US" sz="2750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Theme:</a:t>
            </a:r>
            <a:r>
              <a:rPr lang="en-US" b="true" sz="2750">
                <a:solidFill>
                  <a:srgbClr val="191919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b="true" sz="2750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</a:rPr>
              <a:t>Smart Automation</a:t>
            </a:r>
          </a:p>
          <a:p>
            <a:pPr algn="just" marL="497702" indent="-248851" lvl="1">
              <a:lnSpc>
                <a:spcPts val="6600"/>
              </a:lnSpc>
              <a:buFont typeface="Arial"/>
              <a:buChar char="•"/>
            </a:pPr>
            <a:r>
              <a:rPr lang="en-US" sz="2750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PS Category: </a:t>
            </a:r>
            <a:r>
              <a:rPr lang="en-US" b="true" sz="2750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</a:rPr>
              <a:t>Hardware</a:t>
            </a:r>
          </a:p>
          <a:p>
            <a:pPr algn="just" marL="497702" indent="-248851" lvl="1">
              <a:lnSpc>
                <a:spcPts val="6600"/>
              </a:lnSpc>
              <a:buFont typeface="Arial"/>
              <a:buChar char="•"/>
            </a:pPr>
            <a:r>
              <a:rPr lang="en-US" sz="2750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Team ID:</a:t>
            </a:r>
          </a:p>
          <a:p>
            <a:pPr algn="just" marL="497702" indent="-248851" lvl="1">
              <a:lnSpc>
                <a:spcPts val="6600"/>
              </a:lnSpc>
              <a:buFont typeface="Arial"/>
              <a:buChar char="•"/>
            </a:pPr>
            <a:r>
              <a:rPr lang="en-US" sz="2750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Team Name (Registered on portal): </a:t>
            </a:r>
            <a:r>
              <a:rPr lang="en-US" b="true" sz="2750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</a:rPr>
              <a:t>Quantum Leap</a:t>
            </a:r>
          </a:p>
        </p:txBody>
      </p: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14762049" y="9446"/>
            <a:ext cx="3313680" cy="1684302"/>
            <a:chOff x="0" y="0"/>
            <a:chExt cx="4418240" cy="2245736"/>
          </a:xfrm>
        </p:grpSpPr>
        <p:sp>
          <p:nvSpPr>
            <p:cNvPr name="Freeform 11" id="11" descr="https://www.sih.gov.in/img1/SIH-Logo.png"/>
            <p:cNvSpPr/>
            <p:nvPr/>
          </p:nvSpPr>
          <p:spPr>
            <a:xfrm flipH="false" flipV="false" rot="0">
              <a:off x="0" y="0"/>
              <a:ext cx="4418203" cy="2245741"/>
            </a:xfrm>
            <a:custGeom>
              <a:avLst/>
              <a:gdLst/>
              <a:ahLst/>
              <a:cxnLst/>
              <a:rect r="r" b="b" t="t" l="l"/>
              <a:pathLst>
                <a:path h="2245741" w="4418203">
                  <a:moveTo>
                    <a:pt x="0" y="0"/>
                  </a:moveTo>
                  <a:lnTo>
                    <a:pt x="4418203" y="0"/>
                  </a:lnTo>
                  <a:lnTo>
                    <a:pt x="4418203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96234" y="9485869"/>
            <a:ext cx="18287998" cy="754857"/>
            <a:chOff x="0" y="0"/>
            <a:chExt cx="24383998" cy="10064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2200287" y="393056"/>
            <a:ext cx="12835586" cy="1159291"/>
            <a:chOff x="0" y="0"/>
            <a:chExt cx="25310436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5310436" cy="2286000"/>
            </a:xfrm>
            <a:custGeom>
              <a:avLst/>
              <a:gdLst/>
              <a:ahLst/>
              <a:cxnLst/>
              <a:rect r="r" b="b" t="t" l="l"/>
              <a:pathLst>
                <a:path h="2286000" w="25310436">
                  <a:moveTo>
                    <a:pt x="0" y="0"/>
                  </a:moveTo>
                  <a:lnTo>
                    <a:pt x="25310436" y="0"/>
                  </a:lnTo>
                  <a:lnTo>
                    <a:pt x="25310436" y="2286000"/>
                  </a:lnTo>
                  <a:lnTo>
                    <a:pt x="0" y="2286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85725"/>
              <a:ext cx="25310436" cy="2371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Smart </a:t>
              </a:r>
              <a:r>
                <a:rPr lang="en-US" sz="4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Electric Fence Monitoring &amp; Safety System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406434" y="9504910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028454" y="9589454"/>
            <a:ext cx="4806000" cy="547688"/>
            <a:chOff x="0" y="0"/>
            <a:chExt cx="6408000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64080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Quantum Leap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284402" y="303246"/>
            <a:ext cx="2062321" cy="1249101"/>
            <a:chOff x="0" y="0"/>
            <a:chExt cx="2749762" cy="1665468"/>
          </a:xfrm>
        </p:grpSpPr>
        <p:sp>
          <p:nvSpPr>
            <p:cNvPr name="Freeform 14" id="14" descr="Your startup LOGO"/>
            <p:cNvSpPr/>
            <p:nvPr/>
          </p:nvSpPr>
          <p:spPr>
            <a:xfrm flipH="false" flipV="false" rot="0">
              <a:off x="27341" y="25400"/>
              <a:ext cx="2695040" cy="1614678"/>
            </a:xfrm>
            <a:custGeom>
              <a:avLst/>
              <a:gdLst/>
              <a:ahLst/>
              <a:cxnLst/>
              <a:rect r="r" b="b" t="t" l="l"/>
              <a:pathLst>
                <a:path h="1614678" w="2695040">
                  <a:moveTo>
                    <a:pt x="0" y="807339"/>
                  </a:moveTo>
                  <a:cubicBezTo>
                    <a:pt x="0" y="361442"/>
                    <a:pt x="603288" y="0"/>
                    <a:pt x="1347521" y="0"/>
                  </a:cubicBezTo>
                  <a:cubicBezTo>
                    <a:pt x="2091753" y="0"/>
                    <a:pt x="2695041" y="361442"/>
                    <a:pt x="2695041" y="807339"/>
                  </a:cubicBezTo>
                  <a:cubicBezTo>
                    <a:pt x="2695041" y="1253236"/>
                    <a:pt x="2091753" y="1614678"/>
                    <a:pt x="1347521" y="1614678"/>
                  </a:cubicBezTo>
                  <a:cubicBezTo>
                    <a:pt x="603288" y="1614678"/>
                    <a:pt x="0" y="1253236"/>
                    <a:pt x="0" y="807339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5" id="15" descr="Your startup LOGO"/>
            <p:cNvSpPr/>
            <p:nvPr/>
          </p:nvSpPr>
          <p:spPr>
            <a:xfrm flipH="false" flipV="false" rot="0">
              <a:off x="0" y="0"/>
              <a:ext cx="2749723" cy="1665478"/>
            </a:xfrm>
            <a:custGeom>
              <a:avLst/>
              <a:gdLst/>
              <a:ahLst/>
              <a:cxnLst/>
              <a:rect r="r" b="b" t="t" l="l"/>
              <a:pathLst>
                <a:path h="1665478" w="2749723">
                  <a:moveTo>
                    <a:pt x="0" y="832739"/>
                  </a:moveTo>
                  <a:cubicBezTo>
                    <a:pt x="0" y="363855"/>
                    <a:pt x="627621" y="0"/>
                    <a:pt x="1374862" y="0"/>
                  </a:cubicBezTo>
                  <a:cubicBezTo>
                    <a:pt x="2122101" y="0"/>
                    <a:pt x="2749723" y="363855"/>
                    <a:pt x="2749723" y="832739"/>
                  </a:cubicBezTo>
                  <a:lnTo>
                    <a:pt x="2722382" y="832739"/>
                  </a:lnTo>
                  <a:lnTo>
                    <a:pt x="2749723" y="832739"/>
                  </a:lnTo>
                  <a:cubicBezTo>
                    <a:pt x="2749723" y="1301623"/>
                    <a:pt x="2122101" y="1665478"/>
                    <a:pt x="1374862" y="1665478"/>
                  </a:cubicBezTo>
                  <a:lnTo>
                    <a:pt x="1374862" y="1640078"/>
                  </a:lnTo>
                  <a:lnTo>
                    <a:pt x="1374862" y="1665478"/>
                  </a:lnTo>
                  <a:cubicBezTo>
                    <a:pt x="627621" y="1665478"/>
                    <a:pt x="0" y="1301623"/>
                    <a:pt x="0" y="832739"/>
                  </a:cubicBezTo>
                  <a:lnTo>
                    <a:pt x="27341" y="832739"/>
                  </a:lnTo>
                  <a:lnTo>
                    <a:pt x="54683" y="832739"/>
                  </a:lnTo>
                  <a:lnTo>
                    <a:pt x="27341" y="832739"/>
                  </a:lnTo>
                  <a:lnTo>
                    <a:pt x="0" y="832739"/>
                  </a:lnTo>
                  <a:moveTo>
                    <a:pt x="54683" y="832739"/>
                  </a:moveTo>
                  <a:cubicBezTo>
                    <a:pt x="54683" y="846709"/>
                    <a:pt x="42379" y="858139"/>
                    <a:pt x="27341" y="858139"/>
                  </a:cubicBezTo>
                  <a:cubicBezTo>
                    <a:pt x="12304" y="858139"/>
                    <a:pt x="0" y="846709"/>
                    <a:pt x="0" y="832739"/>
                  </a:cubicBezTo>
                  <a:cubicBezTo>
                    <a:pt x="0" y="818769"/>
                    <a:pt x="12304" y="807339"/>
                    <a:pt x="27341" y="807339"/>
                  </a:cubicBezTo>
                  <a:cubicBezTo>
                    <a:pt x="42379" y="807339"/>
                    <a:pt x="54683" y="818769"/>
                    <a:pt x="54683" y="832739"/>
                  </a:cubicBezTo>
                  <a:cubicBezTo>
                    <a:pt x="54683" y="1255522"/>
                    <a:pt x="633773" y="1614678"/>
                    <a:pt x="1374862" y="1614678"/>
                  </a:cubicBezTo>
                  <a:cubicBezTo>
                    <a:pt x="2115950" y="1614678"/>
                    <a:pt x="2695040" y="1255522"/>
                    <a:pt x="2695040" y="832739"/>
                  </a:cubicBezTo>
                  <a:cubicBezTo>
                    <a:pt x="2695040" y="409956"/>
                    <a:pt x="2116086" y="50800"/>
                    <a:pt x="1374862" y="50800"/>
                  </a:cubicBezTo>
                  <a:lnTo>
                    <a:pt x="1374862" y="25400"/>
                  </a:lnTo>
                  <a:lnTo>
                    <a:pt x="1374862" y="50800"/>
                  </a:lnTo>
                  <a:cubicBezTo>
                    <a:pt x="633773" y="50800"/>
                    <a:pt x="54683" y="409956"/>
                    <a:pt x="54683" y="832739"/>
                  </a:cubicBez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2749762" cy="16654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Garamond"/>
                  <a:ea typeface="Garamond"/>
                  <a:cs typeface="Garamond"/>
                  <a:sym typeface="Garamond"/>
                </a:rPr>
                <a:t>Quantum Leap</a:t>
              </a:r>
            </a:p>
          </p:txBody>
        </p:sp>
      </p:grpSp>
      <p:grpSp>
        <p:nvGrpSpPr>
          <p:cNvPr name="Group 17" id="17"/>
          <p:cNvGrpSpPr>
            <a:grpSpLocks noChangeAspect="true"/>
          </p:cNvGrpSpPr>
          <p:nvPr/>
        </p:nvGrpSpPr>
        <p:grpSpPr>
          <a:xfrm rot="0">
            <a:off x="14808365" y="166361"/>
            <a:ext cx="3313680" cy="1684302"/>
            <a:chOff x="0" y="0"/>
            <a:chExt cx="4418240" cy="2245736"/>
          </a:xfrm>
        </p:grpSpPr>
        <p:sp>
          <p:nvSpPr>
            <p:cNvPr name="Freeform 18" id="18" descr="https://www.sih.gov.in/img1/SIH-Logo.png"/>
            <p:cNvSpPr/>
            <p:nvPr/>
          </p:nvSpPr>
          <p:spPr>
            <a:xfrm flipH="false" flipV="false" rot="0">
              <a:off x="0" y="0"/>
              <a:ext cx="4418203" cy="2245741"/>
            </a:xfrm>
            <a:custGeom>
              <a:avLst/>
              <a:gdLst/>
              <a:ahLst/>
              <a:cxnLst/>
              <a:rect r="r" b="b" t="t" l="l"/>
              <a:pathLst>
                <a:path h="2245741" w="4418203">
                  <a:moveTo>
                    <a:pt x="0" y="0"/>
                  </a:moveTo>
                  <a:lnTo>
                    <a:pt x="4418203" y="0"/>
                  </a:lnTo>
                  <a:lnTo>
                    <a:pt x="4418203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438103" y="1721413"/>
            <a:ext cx="8937197" cy="7327725"/>
            <a:chOff x="0" y="0"/>
            <a:chExt cx="2353830" cy="192993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353830" cy="1929936"/>
            </a:xfrm>
            <a:custGeom>
              <a:avLst/>
              <a:gdLst/>
              <a:ahLst/>
              <a:cxnLst/>
              <a:rect r="r" b="b" t="t" l="l"/>
              <a:pathLst>
                <a:path h="1929936" w="2353830">
                  <a:moveTo>
                    <a:pt x="20790" y="0"/>
                  </a:moveTo>
                  <a:lnTo>
                    <a:pt x="2333040" y="0"/>
                  </a:lnTo>
                  <a:cubicBezTo>
                    <a:pt x="2344522" y="0"/>
                    <a:pt x="2353830" y="9308"/>
                    <a:pt x="2353830" y="20790"/>
                  </a:cubicBezTo>
                  <a:lnTo>
                    <a:pt x="2353830" y="1909146"/>
                  </a:lnTo>
                  <a:cubicBezTo>
                    <a:pt x="2353830" y="1920628"/>
                    <a:pt x="2344522" y="1929936"/>
                    <a:pt x="2333040" y="1929936"/>
                  </a:cubicBezTo>
                  <a:lnTo>
                    <a:pt x="20790" y="1929936"/>
                  </a:lnTo>
                  <a:cubicBezTo>
                    <a:pt x="9308" y="1929936"/>
                    <a:pt x="0" y="1920628"/>
                    <a:pt x="0" y="1909146"/>
                  </a:cubicBezTo>
                  <a:lnTo>
                    <a:pt x="0" y="20790"/>
                  </a:lnTo>
                  <a:cubicBezTo>
                    <a:pt x="0" y="9308"/>
                    <a:pt x="9308" y="0"/>
                    <a:pt x="20790" y="0"/>
                  </a:cubicBez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2353830" cy="19489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0018182" y="1850663"/>
            <a:ext cx="7840742" cy="3581145"/>
            <a:chOff x="0" y="0"/>
            <a:chExt cx="2065051" cy="94318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065051" cy="943182"/>
            </a:xfrm>
            <a:custGeom>
              <a:avLst/>
              <a:gdLst/>
              <a:ahLst/>
              <a:cxnLst/>
              <a:rect r="r" b="b" t="t" l="l"/>
              <a:pathLst>
                <a:path h="943182" w="2065051">
                  <a:moveTo>
                    <a:pt x="23698" y="0"/>
                  </a:moveTo>
                  <a:lnTo>
                    <a:pt x="2041354" y="0"/>
                  </a:lnTo>
                  <a:cubicBezTo>
                    <a:pt x="2047639" y="0"/>
                    <a:pt x="2053667" y="2497"/>
                    <a:pt x="2058111" y="6941"/>
                  </a:cubicBezTo>
                  <a:cubicBezTo>
                    <a:pt x="2062555" y="11385"/>
                    <a:pt x="2065051" y="17413"/>
                    <a:pt x="2065051" y="23698"/>
                  </a:cubicBezTo>
                  <a:lnTo>
                    <a:pt x="2065051" y="919485"/>
                  </a:lnTo>
                  <a:cubicBezTo>
                    <a:pt x="2065051" y="932573"/>
                    <a:pt x="2054442" y="943182"/>
                    <a:pt x="2041354" y="943182"/>
                  </a:cubicBezTo>
                  <a:lnTo>
                    <a:pt x="23698" y="943182"/>
                  </a:lnTo>
                  <a:cubicBezTo>
                    <a:pt x="17413" y="943182"/>
                    <a:pt x="11385" y="940686"/>
                    <a:pt x="6941" y="936241"/>
                  </a:cubicBezTo>
                  <a:cubicBezTo>
                    <a:pt x="2497" y="931797"/>
                    <a:pt x="0" y="925770"/>
                    <a:pt x="0" y="919485"/>
                  </a:cubicBezTo>
                  <a:lnTo>
                    <a:pt x="0" y="23698"/>
                  </a:lnTo>
                  <a:cubicBezTo>
                    <a:pt x="0" y="17413"/>
                    <a:pt x="2497" y="11385"/>
                    <a:pt x="6941" y="6941"/>
                  </a:cubicBezTo>
                  <a:cubicBezTo>
                    <a:pt x="11385" y="2497"/>
                    <a:pt x="17413" y="0"/>
                    <a:pt x="23698" y="0"/>
                  </a:cubicBez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2065051" cy="9622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999154" y="5444345"/>
            <a:ext cx="7907826" cy="3617501"/>
            <a:chOff x="0" y="0"/>
            <a:chExt cx="2082720" cy="95275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082720" cy="952758"/>
            </a:xfrm>
            <a:custGeom>
              <a:avLst/>
              <a:gdLst/>
              <a:ahLst/>
              <a:cxnLst/>
              <a:rect r="r" b="b" t="t" l="l"/>
              <a:pathLst>
                <a:path h="952758" w="2082720">
                  <a:moveTo>
                    <a:pt x="23496" y="0"/>
                  </a:moveTo>
                  <a:lnTo>
                    <a:pt x="2059223" y="0"/>
                  </a:lnTo>
                  <a:cubicBezTo>
                    <a:pt x="2072200" y="0"/>
                    <a:pt x="2082720" y="10520"/>
                    <a:pt x="2082720" y="23496"/>
                  </a:cubicBezTo>
                  <a:lnTo>
                    <a:pt x="2082720" y="929261"/>
                  </a:lnTo>
                  <a:cubicBezTo>
                    <a:pt x="2082720" y="935493"/>
                    <a:pt x="2080244" y="941469"/>
                    <a:pt x="2075838" y="945876"/>
                  </a:cubicBezTo>
                  <a:cubicBezTo>
                    <a:pt x="2071431" y="950282"/>
                    <a:pt x="2065455" y="952758"/>
                    <a:pt x="2059223" y="952758"/>
                  </a:cubicBezTo>
                  <a:lnTo>
                    <a:pt x="23496" y="952758"/>
                  </a:lnTo>
                  <a:cubicBezTo>
                    <a:pt x="17265" y="952758"/>
                    <a:pt x="11288" y="950282"/>
                    <a:pt x="6882" y="945876"/>
                  </a:cubicBezTo>
                  <a:cubicBezTo>
                    <a:pt x="2476" y="941469"/>
                    <a:pt x="0" y="935493"/>
                    <a:pt x="0" y="929261"/>
                  </a:cubicBezTo>
                  <a:lnTo>
                    <a:pt x="0" y="23496"/>
                  </a:lnTo>
                  <a:cubicBezTo>
                    <a:pt x="0" y="10520"/>
                    <a:pt x="10520" y="0"/>
                    <a:pt x="23496" y="0"/>
                  </a:cubicBez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19050"/>
              <a:ext cx="2082720" cy="9718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381949" y="4142933"/>
            <a:ext cx="9049505" cy="413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“The system safeguards electric fences by detecting misuse early and preventing power theft or security breaches.</a:t>
            </a:r>
          </a:p>
          <a:p>
            <a:pPr algn="l" marL="539749" indent="-269875" lvl="1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Microcontroller-driven system for complete fence monit</a:t>
            </a: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oring</a:t>
            </a:r>
          </a:p>
          <a:p>
            <a:pPr algn="l" marL="539749" indent="-269875" lvl="1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Two “eyes”:</a:t>
            </a:r>
          </a:p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Sub-meter tracks power.</a:t>
            </a:r>
          </a:p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Fence sensor ensures electricity flow.</a:t>
            </a:r>
          </a:p>
          <a:p>
            <a:pPr algn="l" marL="539749" indent="-269875" lvl="1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Real-time alerts and logging to notify issues immediately</a:t>
            </a:r>
          </a:p>
          <a:p>
            <a:pPr algn="l" marL="539749" indent="-269875" lvl="1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Robust, scalable, and cost-effective solution for farms, industrial sites, and large perimeters</a:t>
            </a:r>
          </a:p>
          <a:p>
            <a:pPr algn="l" marL="539749" indent="-269875" lvl="1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Affordable and easy to install, ensuring accessibility for all users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018182" y="2499300"/>
            <a:ext cx="7602145" cy="2876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05316" indent="-252658" lvl="1">
              <a:lnSpc>
                <a:spcPts val="2808"/>
              </a:lnSpc>
              <a:buFont typeface="Arial"/>
              <a:buChar char="•"/>
            </a:pPr>
            <a:r>
              <a:rPr lang="en-US" sz="234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Fast Detection – Identifie</a:t>
            </a:r>
            <a:r>
              <a:rPr lang="en-US" sz="234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 unauthorized access, power theft, leakage, or tampering within 0.5–2 seconds for reliable fence security</a:t>
            </a:r>
          </a:p>
          <a:p>
            <a:pPr algn="l" marL="505316" indent="-252658" lvl="1">
              <a:lnSpc>
                <a:spcPts val="2808"/>
              </a:lnSpc>
              <a:buFont typeface="Arial"/>
              <a:buChar char="•"/>
            </a:pPr>
            <a:r>
              <a:rPr lang="en-US" sz="234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Tamper &amp; Weather Resistant – Prevents interference, avoids fence-related faults, and ensures outdoor performance</a:t>
            </a:r>
          </a:p>
          <a:p>
            <a:pPr algn="l" marL="505316" indent="-252658" lvl="1">
              <a:lnSpc>
                <a:spcPts val="2808"/>
              </a:lnSpc>
              <a:buFont typeface="Arial"/>
              <a:buChar char="•"/>
            </a:pPr>
            <a:r>
              <a:rPr lang="en-US" sz="234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LoRa Connectivity – Enables data transfer up to 50 km with &lt;1% packet loss and ultra-low power usage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38400" y="2087852"/>
            <a:ext cx="4490855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0"/>
              </a:lnSpc>
              <a:spcBef>
                <a:spcPct val="0"/>
              </a:spcBef>
            </a:pPr>
            <a:r>
              <a:rPr lang="en-US" b="true" sz="3300" u="sng">
                <a:solidFill>
                  <a:srgbClr val="0097B2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IDEA/SOLUTION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954939" y="6389634"/>
            <a:ext cx="7786072" cy="2409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5218" indent="-242609" lvl="1">
              <a:lnSpc>
                <a:spcPts val="2696"/>
              </a:lnSpc>
              <a:buFont typeface="Arial"/>
              <a:buChar char="•"/>
            </a:pPr>
            <a:r>
              <a:rPr lang="en-US" sz="224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Our</a:t>
            </a:r>
            <a:r>
              <a:rPr lang="en-US" sz="224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device is built to work reliably in any environment, even challeng</a:t>
            </a:r>
            <a:r>
              <a:rPr lang="en-US" sz="224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ing hilly regions.</a:t>
            </a:r>
          </a:p>
          <a:p>
            <a:pPr algn="l" marL="504539" indent="-252269" lvl="1">
              <a:lnSpc>
                <a:spcPts val="2804"/>
              </a:lnSpc>
              <a:buFont typeface="Arial"/>
              <a:buChar char="•"/>
            </a:pPr>
            <a:r>
              <a:rPr lang="en-US" sz="233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It detects and prevents illegal electric fencing, encourages fair electricity use, and ensures data transparency. </a:t>
            </a:r>
          </a:p>
          <a:p>
            <a:pPr algn="l" marL="485218" indent="-242609" lvl="1">
              <a:lnSpc>
                <a:spcPts val="2696"/>
              </a:lnSpc>
              <a:buFont typeface="Arial"/>
              <a:buChar char="•"/>
            </a:pPr>
            <a:r>
              <a:rPr lang="en-US" sz="224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offline logging and buzzer alerts for added safety, our device is a valuable tool not only for farmers and industries, but also for helping the government reduce revenue loss.</a:t>
            </a:r>
          </a:p>
        </p:txBody>
      </p:sp>
      <p:sp>
        <p:nvSpPr>
          <p:cNvPr name="AutoShape 32" id="32"/>
          <p:cNvSpPr/>
          <p:nvPr/>
        </p:nvSpPr>
        <p:spPr>
          <a:xfrm flipV="true">
            <a:off x="480060" y="1769948"/>
            <a:ext cx="8856350" cy="0"/>
          </a:xfrm>
          <a:prstGeom prst="line">
            <a:avLst/>
          </a:prstGeom>
          <a:ln cap="flat" w="38100">
            <a:solidFill>
              <a:srgbClr val="000000">
                <a:alpha val="4078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3" id="33"/>
          <p:cNvSpPr/>
          <p:nvPr/>
        </p:nvSpPr>
        <p:spPr>
          <a:xfrm flipV="true">
            <a:off x="456154" y="9030088"/>
            <a:ext cx="8856350" cy="0"/>
          </a:xfrm>
          <a:prstGeom prst="line">
            <a:avLst/>
          </a:prstGeom>
          <a:ln cap="flat" w="38100">
            <a:solidFill>
              <a:srgbClr val="000000">
                <a:alpha val="4078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4" id="34"/>
          <p:cNvSpPr/>
          <p:nvPr/>
        </p:nvSpPr>
        <p:spPr>
          <a:xfrm flipH="true" flipV="true">
            <a:off x="480060" y="1769948"/>
            <a:ext cx="0" cy="7279191"/>
          </a:xfrm>
          <a:prstGeom prst="line">
            <a:avLst/>
          </a:prstGeom>
          <a:ln cap="flat" w="38100">
            <a:solidFill>
              <a:srgbClr val="000000">
                <a:alpha val="4078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5" id="35"/>
          <p:cNvSpPr/>
          <p:nvPr/>
        </p:nvSpPr>
        <p:spPr>
          <a:xfrm>
            <a:off x="9312503" y="1821728"/>
            <a:ext cx="19050" cy="7227411"/>
          </a:xfrm>
          <a:prstGeom prst="line">
            <a:avLst/>
          </a:prstGeom>
          <a:ln cap="flat" w="38100">
            <a:solidFill>
              <a:srgbClr val="000000">
                <a:alpha val="4078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6" id="36"/>
          <p:cNvSpPr txBox="true"/>
          <p:nvPr/>
        </p:nvSpPr>
        <p:spPr>
          <a:xfrm rot="0">
            <a:off x="8782820" y="1925981"/>
            <a:ext cx="8130798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3"/>
              </a:lnSpc>
              <a:spcBef>
                <a:spcPct val="0"/>
              </a:spcBef>
            </a:pPr>
            <a:r>
              <a:rPr lang="en-US" b="true" sz="3302" u="sng">
                <a:solidFill>
                  <a:srgbClr val="0097B2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PROBLEM RESOLUTION 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128502" y="5684784"/>
            <a:ext cx="8130798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3"/>
              </a:lnSpc>
              <a:spcBef>
                <a:spcPct val="0"/>
              </a:spcBef>
            </a:pPr>
            <a:r>
              <a:rPr lang="en-US" b="true" sz="3302" u="sng">
                <a:solidFill>
                  <a:srgbClr val="0097B2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DIFFERENTIATING</a:t>
            </a:r>
            <a:r>
              <a:rPr lang="en-US" b="true" sz="3302" u="sng">
                <a:solidFill>
                  <a:srgbClr val="0097B2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FACTOR</a:t>
            </a:r>
          </a:p>
        </p:txBody>
      </p:sp>
      <p:sp>
        <p:nvSpPr>
          <p:cNvPr name="AutoShape 38" id="38"/>
          <p:cNvSpPr/>
          <p:nvPr/>
        </p:nvSpPr>
        <p:spPr>
          <a:xfrm>
            <a:off x="9968949" y="5355089"/>
            <a:ext cx="7868763" cy="0"/>
          </a:xfrm>
          <a:prstGeom prst="line">
            <a:avLst/>
          </a:prstGeom>
          <a:ln cap="flat" w="38100">
            <a:solidFill>
              <a:srgbClr val="000000">
                <a:alpha val="4078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9" id="39"/>
          <p:cNvSpPr/>
          <p:nvPr/>
        </p:nvSpPr>
        <p:spPr>
          <a:xfrm>
            <a:off x="10018182" y="9001781"/>
            <a:ext cx="7798050" cy="13841"/>
          </a:xfrm>
          <a:prstGeom prst="line">
            <a:avLst/>
          </a:prstGeom>
          <a:ln cap="flat" w="38100">
            <a:solidFill>
              <a:srgbClr val="000000">
                <a:alpha val="4078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0" id="40"/>
          <p:cNvSpPr/>
          <p:nvPr/>
        </p:nvSpPr>
        <p:spPr>
          <a:xfrm>
            <a:off x="17804646" y="1850663"/>
            <a:ext cx="6" cy="3500430"/>
          </a:xfrm>
          <a:prstGeom prst="line">
            <a:avLst/>
          </a:prstGeom>
          <a:ln cap="flat" w="38100">
            <a:solidFill>
              <a:srgbClr val="000000">
                <a:alpha val="4078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1" id="41"/>
          <p:cNvSpPr/>
          <p:nvPr/>
        </p:nvSpPr>
        <p:spPr>
          <a:xfrm flipH="true">
            <a:off x="17837712" y="5552753"/>
            <a:ext cx="0" cy="3495975"/>
          </a:xfrm>
          <a:prstGeom prst="line">
            <a:avLst/>
          </a:prstGeom>
          <a:ln cap="flat" w="38100">
            <a:solidFill>
              <a:srgbClr val="000000">
                <a:alpha val="4078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2" id="42"/>
          <p:cNvSpPr/>
          <p:nvPr/>
        </p:nvSpPr>
        <p:spPr>
          <a:xfrm>
            <a:off x="9999126" y="1835608"/>
            <a:ext cx="6" cy="3500430"/>
          </a:xfrm>
          <a:prstGeom prst="line">
            <a:avLst/>
          </a:prstGeom>
          <a:ln cap="flat" w="38100">
            <a:solidFill>
              <a:srgbClr val="000000">
                <a:alpha val="4078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3" id="43"/>
          <p:cNvSpPr/>
          <p:nvPr/>
        </p:nvSpPr>
        <p:spPr>
          <a:xfrm>
            <a:off x="9968949" y="1868831"/>
            <a:ext cx="7868763" cy="0"/>
          </a:xfrm>
          <a:prstGeom prst="line">
            <a:avLst/>
          </a:prstGeom>
          <a:ln cap="flat" w="38100">
            <a:solidFill>
              <a:srgbClr val="000000">
                <a:alpha val="4078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4" id="44"/>
          <p:cNvSpPr/>
          <p:nvPr/>
        </p:nvSpPr>
        <p:spPr>
          <a:xfrm flipH="false" flipV="false" rot="0">
            <a:off x="534490" y="3338070"/>
            <a:ext cx="334797" cy="206965"/>
          </a:xfrm>
          <a:custGeom>
            <a:avLst/>
            <a:gdLst/>
            <a:ahLst/>
            <a:cxnLst/>
            <a:rect r="r" b="b" t="t" l="l"/>
            <a:pathLst>
              <a:path h="206965" w="334797">
                <a:moveTo>
                  <a:pt x="0" y="0"/>
                </a:moveTo>
                <a:lnTo>
                  <a:pt x="334798" y="0"/>
                </a:lnTo>
                <a:lnTo>
                  <a:pt x="334798" y="206966"/>
                </a:lnTo>
                <a:lnTo>
                  <a:pt x="0" y="2069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5" id="45"/>
          <p:cNvSpPr txBox="true"/>
          <p:nvPr/>
        </p:nvSpPr>
        <p:spPr>
          <a:xfrm rot="0">
            <a:off x="952806" y="3138635"/>
            <a:ext cx="8269906" cy="1228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9"/>
              </a:lnSpc>
            </a:pPr>
            <a:r>
              <a:rPr lang="en-US" sz="259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system safeguards electric fences by detecting misuse early and preventing power theft or security breaches.</a:t>
            </a:r>
          </a:p>
          <a:p>
            <a:pPr algn="l">
              <a:lnSpc>
                <a:spcPts val="3109"/>
              </a:lnSpc>
              <a:spcBef>
                <a:spcPct val="0"/>
              </a:spcBef>
            </a:pPr>
          </a:p>
        </p:txBody>
      </p:sp>
      <p:sp>
        <p:nvSpPr>
          <p:cNvPr name="AutoShape 46" id="46"/>
          <p:cNvSpPr/>
          <p:nvPr/>
        </p:nvSpPr>
        <p:spPr>
          <a:xfrm>
            <a:off x="10060840" y="5555633"/>
            <a:ext cx="7798050" cy="13841"/>
          </a:xfrm>
          <a:prstGeom prst="line">
            <a:avLst/>
          </a:prstGeom>
          <a:ln cap="flat" w="38100">
            <a:solidFill>
              <a:srgbClr val="000000">
                <a:alpha val="4078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7" id="47"/>
          <p:cNvSpPr/>
          <p:nvPr/>
        </p:nvSpPr>
        <p:spPr>
          <a:xfrm flipH="true">
            <a:off x="10037260" y="5535242"/>
            <a:ext cx="0" cy="3458270"/>
          </a:xfrm>
          <a:prstGeom prst="line">
            <a:avLst/>
          </a:prstGeom>
          <a:ln cap="flat" w="38100">
            <a:solidFill>
              <a:srgbClr val="000000">
                <a:alpha val="4078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8" id="48"/>
          <p:cNvSpPr/>
          <p:nvPr/>
        </p:nvSpPr>
        <p:spPr>
          <a:xfrm flipH="false" flipV="false" rot="0">
            <a:off x="480060" y="4263878"/>
            <a:ext cx="334797" cy="206965"/>
          </a:xfrm>
          <a:custGeom>
            <a:avLst/>
            <a:gdLst/>
            <a:ahLst/>
            <a:cxnLst/>
            <a:rect r="r" b="b" t="t" l="l"/>
            <a:pathLst>
              <a:path h="206965" w="334797">
                <a:moveTo>
                  <a:pt x="0" y="0"/>
                </a:moveTo>
                <a:lnTo>
                  <a:pt x="334797" y="0"/>
                </a:lnTo>
                <a:lnTo>
                  <a:pt x="334797" y="206965"/>
                </a:lnTo>
                <a:lnTo>
                  <a:pt x="0" y="2069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9" id="49"/>
          <p:cNvSpPr/>
          <p:nvPr/>
        </p:nvSpPr>
        <p:spPr>
          <a:xfrm flipH="false" flipV="false" rot="0">
            <a:off x="534490" y="4997335"/>
            <a:ext cx="334797" cy="206965"/>
          </a:xfrm>
          <a:custGeom>
            <a:avLst/>
            <a:gdLst/>
            <a:ahLst/>
            <a:cxnLst/>
            <a:rect r="r" b="b" t="t" l="l"/>
            <a:pathLst>
              <a:path h="206965" w="334797">
                <a:moveTo>
                  <a:pt x="0" y="0"/>
                </a:moveTo>
                <a:lnTo>
                  <a:pt x="334798" y="0"/>
                </a:lnTo>
                <a:lnTo>
                  <a:pt x="334798" y="206966"/>
                </a:lnTo>
                <a:lnTo>
                  <a:pt x="0" y="2069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0" id="50"/>
          <p:cNvSpPr/>
          <p:nvPr/>
        </p:nvSpPr>
        <p:spPr>
          <a:xfrm flipH="false" flipV="false" rot="0">
            <a:off x="10103907" y="3678090"/>
            <a:ext cx="334797" cy="206965"/>
          </a:xfrm>
          <a:custGeom>
            <a:avLst/>
            <a:gdLst/>
            <a:ahLst/>
            <a:cxnLst/>
            <a:rect r="r" b="b" t="t" l="l"/>
            <a:pathLst>
              <a:path h="206965" w="334797">
                <a:moveTo>
                  <a:pt x="0" y="0"/>
                </a:moveTo>
                <a:lnTo>
                  <a:pt x="334797" y="0"/>
                </a:lnTo>
                <a:lnTo>
                  <a:pt x="334797" y="206966"/>
                </a:lnTo>
                <a:lnTo>
                  <a:pt x="0" y="2069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1" id="51"/>
          <p:cNvSpPr/>
          <p:nvPr/>
        </p:nvSpPr>
        <p:spPr>
          <a:xfrm flipH="false" flipV="false" rot="0">
            <a:off x="10103907" y="4758588"/>
            <a:ext cx="334797" cy="206965"/>
          </a:xfrm>
          <a:custGeom>
            <a:avLst/>
            <a:gdLst/>
            <a:ahLst/>
            <a:cxnLst/>
            <a:rect r="r" b="b" t="t" l="l"/>
            <a:pathLst>
              <a:path h="206965" w="334797">
                <a:moveTo>
                  <a:pt x="0" y="0"/>
                </a:moveTo>
                <a:lnTo>
                  <a:pt x="334797" y="0"/>
                </a:lnTo>
                <a:lnTo>
                  <a:pt x="334797" y="206965"/>
                </a:lnTo>
                <a:lnTo>
                  <a:pt x="0" y="2069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2" id="52"/>
          <p:cNvSpPr/>
          <p:nvPr/>
        </p:nvSpPr>
        <p:spPr>
          <a:xfrm flipH="false" flipV="false" rot="0">
            <a:off x="505915" y="6483905"/>
            <a:ext cx="334797" cy="206965"/>
          </a:xfrm>
          <a:custGeom>
            <a:avLst/>
            <a:gdLst/>
            <a:ahLst/>
            <a:cxnLst/>
            <a:rect r="r" b="b" t="t" l="l"/>
            <a:pathLst>
              <a:path h="206965" w="334797">
                <a:moveTo>
                  <a:pt x="0" y="0"/>
                </a:moveTo>
                <a:lnTo>
                  <a:pt x="334798" y="0"/>
                </a:lnTo>
                <a:lnTo>
                  <a:pt x="334798" y="206965"/>
                </a:lnTo>
                <a:lnTo>
                  <a:pt x="0" y="2069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3" id="53"/>
          <p:cNvSpPr/>
          <p:nvPr/>
        </p:nvSpPr>
        <p:spPr>
          <a:xfrm flipH="false" flipV="false" rot="0">
            <a:off x="1315562" y="5726950"/>
            <a:ext cx="334797" cy="206965"/>
          </a:xfrm>
          <a:custGeom>
            <a:avLst/>
            <a:gdLst/>
            <a:ahLst/>
            <a:cxnLst/>
            <a:rect r="r" b="b" t="t" l="l"/>
            <a:pathLst>
              <a:path h="206965" w="334797">
                <a:moveTo>
                  <a:pt x="0" y="0"/>
                </a:moveTo>
                <a:lnTo>
                  <a:pt x="334798" y="0"/>
                </a:lnTo>
                <a:lnTo>
                  <a:pt x="334798" y="206965"/>
                </a:lnTo>
                <a:lnTo>
                  <a:pt x="0" y="2069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4" id="54"/>
          <p:cNvSpPr/>
          <p:nvPr/>
        </p:nvSpPr>
        <p:spPr>
          <a:xfrm flipH="false" flipV="false" rot="0">
            <a:off x="1315562" y="6130188"/>
            <a:ext cx="334797" cy="206965"/>
          </a:xfrm>
          <a:custGeom>
            <a:avLst/>
            <a:gdLst/>
            <a:ahLst/>
            <a:cxnLst/>
            <a:rect r="r" b="b" t="t" l="l"/>
            <a:pathLst>
              <a:path h="206965" w="334797">
                <a:moveTo>
                  <a:pt x="0" y="0"/>
                </a:moveTo>
                <a:lnTo>
                  <a:pt x="334798" y="0"/>
                </a:lnTo>
                <a:lnTo>
                  <a:pt x="334798" y="206965"/>
                </a:lnTo>
                <a:lnTo>
                  <a:pt x="0" y="2069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5" id="55"/>
          <p:cNvSpPr/>
          <p:nvPr/>
        </p:nvSpPr>
        <p:spPr>
          <a:xfrm flipH="false" flipV="false" rot="0">
            <a:off x="480060" y="6874873"/>
            <a:ext cx="334797" cy="206965"/>
          </a:xfrm>
          <a:custGeom>
            <a:avLst/>
            <a:gdLst/>
            <a:ahLst/>
            <a:cxnLst/>
            <a:rect r="r" b="b" t="t" l="l"/>
            <a:pathLst>
              <a:path h="206965" w="334797">
                <a:moveTo>
                  <a:pt x="0" y="0"/>
                </a:moveTo>
                <a:lnTo>
                  <a:pt x="334797" y="0"/>
                </a:lnTo>
                <a:lnTo>
                  <a:pt x="334797" y="206966"/>
                </a:lnTo>
                <a:lnTo>
                  <a:pt x="0" y="2069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6" id="56"/>
          <p:cNvSpPr/>
          <p:nvPr/>
        </p:nvSpPr>
        <p:spPr>
          <a:xfrm flipH="false" flipV="false" rot="0">
            <a:off x="480060" y="5385276"/>
            <a:ext cx="334797" cy="206965"/>
          </a:xfrm>
          <a:custGeom>
            <a:avLst/>
            <a:gdLst/>
            <a:ahLst/>
            <a:cxnLst/>
            <a:rect r="r" b="b" t="t" l="l"/>
            <a:pathLst>
              <a:path h="206965" w="334797">
                <a:moveTo>
                  <a:pt x="0" y="0"/>
                </a:moveTo>
                <a:lnTo>
                  <a:pt x="334797" y="0"/>
                </a:lnTo>
                <a:lnTo>
                  <a:pt x="334797" y="206965"/>
                </a:lnTo>
                <a:lnTo>
                  <a:pt x="0" y="2069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7" id="57"/>
          <p:cNvSpPr/>
          <p:nvPr/>
        </p:nvSpPr>
        <p:spPr>
          <a:xfrm flipH="false" flipV="false" rot="0">
            <a:off x="480060" y="7605270"/>
            <a:ext cx="334797" cy="206965"/>
          </a:xfrm>
          <a:custGeom>
            <a:avLst/>
            <a:gdLst/>
            <a:ahLst/>
            <a:cxnLst/>
            <a:rect r="r" b="b" t="t" l="l"/>
            <a:pathLst>
              <a:path h="206965" w="334797">
                <a:moveTo>
                  <a:pt x="0" y="0"/>
                </a:moveTo>
                <a:lnTo>
                  <a:pt x="334797" y="0"/>
                </a:lnTo>
                <a:lnTo>
                  <a:pt x="334797" y="206966"/>
                </a:lnTo>
                <a:lnTo>
                  <a:pt x="0" y="2069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8" id="58"/>
          <p:cNvSpPr/>
          <p:nvPr/>
        </p:nvSpPr>
        <p:spPr>
          <a:xfrm flipH="false" flipV="false" rot="0">
            <a:off x="10060840" y="7812236"/>
            <a:ext cx="334797" cy="206965"/>
          </a:xfrm>
          <a:custGeom>
            <a:avLst/>
            <a:gdLst/>
            <a:ahLst/>
            <a:cxnLst/>
            <a:rect r="r" b="b" t="t" l="l"/>
            <a:pathLst>
              <a:path h="206965" w="334797">
                <a:moveTo>
                  <a:pt x="0" y="0"/>
                </a:moveTo>
                <a:lnTo>
                  <a:pt x="334797" y="0"/>
                </a:lnTo>
                <a:lnTo>
                  <a:pt x="334797" y="206965"/>
                </a:lnTo>
                <a:lnTo>
                  <a:pt x="0" y="2069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9" id="59"/>
          <p:cNvSpPr/>
          <p:nvPr/>
        </p:nvSpPr>
        <p:spPr>
          <a:xfrm flipH="false" flipV="false" rot="0">
            <a:off x="10060840" y="7148070"/>
            <a:ext cx="334797" cy="206965"/>
          </a:xfrm>
          <a:custGeom>
            <a:avLst/>
            <a:gdLst/>
            <a:ahLst/>
            <a:cxnLst/>
            <a:rect r="r" b="b" t="t" l="l"/>
            <a:pathLst>
              <a:path h="206965" w="334797">
                <a:moveTo>
                  <a:pt x="0" y="0"/>
                </a:moveTo>
                <a:lnTo>
                  <a:pt x="334797" y="0"/>
                </a:lnTo>
                <a:lnTo>
                  <a:pt x="334797" y="206966"/>
                </a:lnTo>
                <a:lnTo>
                  <a:pt x="0" y="2069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0" id="60"/>
          <p:cNvSpPr/>
          <p:nvPr/>
        </p:nvSpPr>
        <p:spPr>
          <a:xfrm flipH="false" flipV="false" rot="0">
            <a:off x="10060840" y="6483905"/>
            <a:ext cx="334797" cy="206965"/>
          </a:xfrm>
          <a:custGeom>
            <a:avLst/>
            <a:gdLst/>
            <a:ahLst/>
            <a:cxnLst/>
            <a:rect r="r" b="b" t="t" l="l"/>
            <a:pathLst>
              <a:path h="206965" w="334797">
                <a:moveTo>
                  <a:pt x="0" y="0"/>
                </a:moveTo>
                <a:lnTo>
                  <a:pt x="334797" y="0"/>
                </a:lnTo>
                <a:lnTo>
                  <a:pt x="334797" y="206965"/>
                </a:lnTo>
                <a:lnTo>
                  <a:pt x="0" y="2069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1" id="61"/>
          <p:cNvSpPr/>
          <p:nvPr/>
        </p:nvSpPr>
        <p:spPr>
          <a:xfrm flipH="false" flipV="false" rot="0">
            <a:off x="10103907" y="2632925"/>
            <a:ext cx="334797" cy="206965"/>
          </a:xfrm>
          <a:custGeom>
            <a:avLst/>
            <a:gdLst/>
            <a:ahLst/>
            <a:cxnLst/>
            <a:rect r="r" b="b" t="t" l="l"/>
            <a:pathLst>
              <a:path h="206965" w="334797">
                <a:moveTo>
                  <a:pt x="0" y="0"/>
                </a:moveTo>
                <a:lnTo>
                  <a:pt x="334797" y="0"/>
                </a:lnTo>
                <a:lnTo>
                  <a:pt x="334797" y="206965"/>
                </a:lnTo>
                <a:lnTo>
                  <a:pt x="0" y="2069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2" id="62"/>
          <p:cNvGrpSpPr/>
          <p:nvPr/>
        </p:nvGrpSpPr>
        <p:grpSpPr>
          <a:xfrm rot="0">
            <a:off x="456154" y="1711987"/>
            <a:ext cx="8937197" cy="7327678"/>
            <a:chOff x="0" y="0"/>
            <a:chExt cx="2353818" cy="1929892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2353818" cy="1929892"/>
            </a:xfrm>
            <a:custGeom>
              <a:avLst/>
              <a:gdLst/>
              <a:ahLst/>
              <a:cxnLst/>
              <a:rect r="r" b="b" t="t" l="l"/>
              <a:pathLst>
                <a:path h="1929892" w="2353818">
                  <a:moveTo>
                    <a:pt x="2353818" y="4331"/>
                  </a:moveTo>
                  <a:lnTo>
                    <a:pt x="2353818" y="1925561"/>
                  </a:lnTo>
                  <a:cubicBezTo>
                    <a:pt x="2353818" y="1927953"/>
                    <a:pt x="2351879" y="1929892"/>
                    <a:pt x="2349487" y="1929892"/>
                  </a:cubicBezTo>
                  <a:lnTo>
                    <a:pt x="4331" y="1929892"/>
                  </a:lnTo>
                  <a:cubicBezTo>
                    <a:pt x="1939" y="1929892"/>
                    <a:pt x="0" y="1927953"/>
                    <a:pt x="0" y="1925561"/>
                  </a:cubicBezTo>
                  <a:lnTo>
                    <a:pt x="0" y="4331"/>
                  </a:lnTo>
                  <a:cubicBezTo>
                    <a:pt x="0" y="1939"/>
                    <a:pt x="1939" y="0"/>
                    <a:pt x="4331" y="0"/>
                  </a:cubicBezTo>
                  <a:lnTo>
                    <a:pt x="2349487" y="0"/>
                  </a:lnTo>
                  <a:cubicBezTo>
                    <a:pt x="2351879" y="0"/>
                    <a:pt x="2353818" y="1939"/>
                    <a:pt x="2353818" y="4331"/>
                  </a:cubicBezTo>
                  <a:close/>
                </a:path>
              </a:pathLst>
            </a:custGeom>
            <a:solidFill>
              <a:srgbClr val="F4F6FC"/>
            </a:solidFill>
            <a:ln w="28575" cap="sq">
              <a:solidFill>
                <a:srgbClr val="808080"/>
              </a:solidFill>
              <a:prstDash val="solid"/>
              <a:miter/>
            </a:ln>
          </p:spPr>
        </p:sp>
        <p:sp>
          <p:nvSpPr>
            <p:cNvPr name="TextBox 64" id="64"/>
            <p:cNvSpPr txBox="true"/>
            <p:nvPr/>
          </p:nvSpPr>
          <p:spPr>
            <a:xfrm>
              <a:off x="0" y="-19050"/>
              <a:ext cx="2353818" cy="19489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TextBox 65" id="65"/>
          <p:cNvSpPr txBox="true"/>
          <p:nvPr/>
        </p:nvSpPr>
        <p:spPr>
          <a:xfrm rot="0">
            <a:off x="456154" y="3339791"/>
            <a:ext cx="9049505" cy="474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</a:p>
          <a:p>
            <a:pPr algn="l">
              <a:lnSpc>
                <a:spcPts val="3119"/>
              </a:lnSpc>
            </a:pPr>
          </a:p>
          <a:p>
            <a:pPr algn="l" marL="561339" indent="-280669" lvl="1">
              <a:lnSpc>
                <a:spcPts val="311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Microcontroller-driven system for complete fence monit</a:t>
            </a:r>
            <a:r>
              <a:rPr lang="en-US" sz="25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oring</a:t>
            </a:r>
          </a:p>
          <a:p>
            <a:pPr algn="l" marL="561339" indent="-280669" lvl="1">
              <a:lnSpc>
                <a:spcPts val="311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Two “eyes”:</a:t>
            </a:r>
          </a:p>
          <a:p>
            <a:pPr algn="l">
              <a:lnSpc>
                <a:spcPts val="3119"/>
              </a:lnSpc>
            </a:pPr>
            <a:r>
              <a:rPr lang="en-US" sz="25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Sub-meter tracks power.</a:t>
            </a:r>
          </a:p>
          <a:p>
            <a:pPr algn="l">
              <a:lnSpc>
                <a:spcPts val="3119"/>
              </a:lnSpc>
            </a:pPr>
            <a:r>
              <a:rPr lang="en-US" sz="25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Fence sensor ensures electricity flow.</a:t>
            </a:r>
          </a:p>
          <a:p>
            <a:pPr algn="l" marL="561339" indent="-280669" lvl="1">
              <a:lnSpc>
                <a:spcPts val="311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Real-time alerts and logging to notify issues immediately</a:t>
            </a:r>
          </a:p>
          <a:p>
            <a:pPr algn="l" marL="561339" indent="-280669" lvl="1">
              <a:lnSpc>
                <a:spcPts val="311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Robust, scalable, and cost-effective solution for farms, industrial sites, and large perimeters</a:t>
            </a:r>
          </a:p>
          <a:p>
            <a:pPr algn="l" marL="561339" indent="-280669" lvl="1">
              <a:lnSpc>
                <a:spcPts val="311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Affordable and easy to install, ensuring accessibility for all users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238400" y="2087852"/>
            <a:ext cx="4490855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0"/>
              </a:lnSpc>
              <a:spcBef>
                <a:spcPct val="0"/>
              </a:spcBef>
            </a:pPr>
            <a:r>
              <a:rPr lang="en-US" b="true" sz="3300" u="sng">
                <a:solidFill>
                  <a:srgbClr val="0097B2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IDEA/SOLUTION</a:t>
            </a:r>
          </a:p>
        </p:txBody>
      </p:sp>
      <p:sp>
        <p:nvSpPr>
          <p:cNvPr name="Freeform 67" id="67"/>
          <p:cNvSpPr/>
          <p:nvPr/>
        </p:nvSpPr>
        <p:spPr>
          <a:xfrm flipH="false" flipV="false" rot="0">
            <a:off x="534490" y="3338070"/>
            <a:ext cx="334797" cy="206965"/>
          </a:xfrm>
          <a:custGeom>
            <a:avLst/>
            <a:gdLst/>
            <a:ahLst/>
            <a:cxnLst/>
            <a:rect r="r" b="b" t="t" l="l"/>
            <a:pathLst>
              <a:path h="206965" w="334797">
                <a:moveTo>
                  <a:pt x="0" y="0"/>
                </a:moveTo>
                <a:lnTo>
                  <a:pt x="334798" y="0"/>
                </a:lnTo>
                <a:lnTo>
                  <a:pt x="334798" y="206966"/>
                </a:lnTo>
                <a:lnTo>
                  <a:pt x="0" y="2069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8" id="68"/>
          <p:cNvSpPr txBox="true"/>
          <p:nvPr/>
        </p:nvSpPr>
        <p:spPr>
          <a:xfrm rot="0">
            <a:off x="952806" y="3138635"/>
            <a:ext cx="8269906" cy="1228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9"/>
              </a:lnSpc>
            </a:pPr>
            <a:r>
              <a:rPr lang="en-US" sz="2591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system safeguards electric fences by detecting misuse and monitoring power theft or security breaches.</a:t>
            </a:r>
          </a:p>
          <a:p>
            <a:pPr algn="l">
              <a:lnSpc>
                <a:spcPts val="3109"/>
              </a:lnSpc>
              <a:spcBef>
                <a:spcPct val="0"/>
              </a:spcBef>
            </a:pPr>
          </a:p>
        </p:txBody>
      </p:sp>
      <p:sp>
        <p:nvSpPr>
          <p:cNvPr name="Freeform 69" id="69"/>
          <p:cNvSpPr/>
          <p:nvPr/>
        </p:nvSpPr>
        <p:spPr>
          <a:xfrm flipH="false" flipV="false" rot="0">
            <a:off x="580120" y="4263878"/>
            <a:ext cx="334797" cy="206965"/>
          </a:xfrm>
          <a:custGeom>
            <a:avLst/>
            <a:gdLst/>
            <a:ahLst/>
            <a:cxnLst/>
            <a:rect r="r" b="b" t="t" l="l"/>
            <a:pathLst>
              <a:path h="206965" w="334797">
                <a:moveTo>
                  <a:pt x="0" y="0"/>
                </a:moveTo>
                <a:lnTo>
                  <a:pt x="334797" y="0"/>
                </a:lnTo>
                <a:lnTo>
                  <a:pt x="334797" y="206965"/>
                </a:lnTo>
                <a:lnTo>
                  <a:pt x="0" y="2069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0" id="70"/>
          <p:cNvSpPr/>
          <p:nvPr/>
        </p:nvSpPr>
        <p:spPr>
          <a:xfrm flipH="false" flipV="false" rot="0">
            <a:off x="596316" y="6220769"/>
            <a:ext cx="334797" cy="206965"/>
          </a:xfrm>
          <a:custGeom>
            <a:avLst/>
            <a:gdLst/>
            <a:ahLst/>
            <a:cxnLst/>
            <a:rect r="r" b="b" t="t" l="l"/>
            <a:pathLst>
              <a:path h="206965" w="334797">
                <a:moveTo>
                  <a:pt x="0" y="0"/>
                </a:moveTo>
                <a:lnTo>
                  <a:pt x="334797" y="0"/>
                </a:lnTo>
                <a:lnTo>
                  <a:pt x="334797" y="206965"/>
                </a:lnTo>
                <a:lnTo>
                  <a:pt x="0" y="2069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1" id="71"/>
          <p:cNvSpPr/>
          <p:nvPr/>
        </p:nvSpPr>
        <p:spPr>
          <a:xfrm flipH="false" flipV="false" rot="0">
            <a:off x="1389767" y="5362508"/>
            <a:ext cx="334797" cy="206965"/>
          </a:xfrm>
          <a:custGeom>
            <a:avLst/>
            <a:gdLst/>
            <a:ahLst/>
            <a:cxnLst/>
            <a:rect r="r" b="b" t="t" l="l"/>
            <a:pathLst>
              <a:path h="206965" w="334797">
                <a:moveTo>
                  <a:pt x="0" y="0"/>
                </a:moveTo>
                <a:lnTo>
                  <a:pt x="334797" y="0"/>
                </a:lnTo>
                <a:lnTo>
                  <a:pt x="334797" y="206966"/>
                </a:lnTo>
                <a:lnTo>
                  <a:pt x="0" y="2069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2" id="72"/>
          <p:cNvSpPr/>
          <p:nvPr/>
        </p:nvSpPr>
        <p:spPr>
          <a:xfrm flipH="false" flipV="false" rot="0">
            <a:off x="1389767" y="5751459"/>
            <a:ext cx="334797" cy="206965"/>
          </a:xfrm>
          <a:custGeom>
            <a:avLst/>
            <a:gdLst/>
            <a:ahLst/>
            <a:cxnLst/>
            <a:rect r="r" b="b" t="t" l="l"/>
            <a:pathLst>
              <a:path h="206965" w="334797">
                <a:moveTo>
                  <a:pt x="0" y="0"/>
                </a:moveTo>
                <a:lnTo>
                  <a:pt x="334797" y="0"/>
                </a:lnTo>
                <a:lnTo>
                  <a:pt x="334797" y="206966"/>
                </a:lnTo>
                <a:lnTo>
                  <a:pt x="0" y="2069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3" id="73"/>
          <p:cNvSpPr/>
          <p:nvPr/>
        </p:nvSpPr>
        <p:spPr>
          <a:xfrm flipH="false" flipV="false" rot="0">
            <a:off x="596316" y="6583054"/>
            <a:ext cx="334797" cy="206965"/>
          </a:xfrm>
          <a:custGeom>
            <a:avLst/>
            <a:gdLst/>
            <a:ahLst/>
            <a:cxnLst/>
            <a:rect r="r" b="b" t="t" l="l"/>
            <a:pathLst>
              <a:path h="206965" w="334797">
                <a:moveTo>
                  <a:pt x="0" y="0"/>
                </a:moveTo>
                <a:lnTo>
                  <a:pt x="334797" y="0"/>
                </a:lnTo>
                <a:lnTo>
                  <a:pt x="334797" y="206965"/>
                </a:lnTo>
                <a:lnTo>
                  <a:pt x="0" y="2069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4" id="74"/>
          <p:cNvSpPr/>
          <p:nvPr/>
        </p:nvSpPr>
        <p:spPr>
          <a:xfrm flipH="false" flipV="false" rot="0">
            <a:off x="596316" y="5067909"/>
            <a:ext cx="334797" cy="206965"/>
          </a:xfrm>
          <a:custGeom>
            <a:avLst/>
            <a:gdLst/>
            <a:ahLst/>
            <a:cxnLst/>
            <a:rect r="r" b="b" t="t" l="l"/>
            <a:pathLst>
              <a:path h="206965" w="334797">
                <a:moveTo>
                  <a:pt x="0" y="0"/>
                </a:moveTo>
                <a:lnTo>
                  <a:pt x="334797" y="0"/>
                </a:lnTo>
                <a:lnTo>
                  <a:pt x="334797" y="206966"/>
                </a:lnTo>
                <a:lnTo>
                  <a:pt x="0" y="2069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5" id="75"/>
          <p:cNvSpPr/>
          <p:nvPr/>
        </p:nvSpPr>
        <p:spPr>
          <a:xfrm flipH="false" flipV="false" rot="0">
            <a:off x="596316" y="7406631"/>
            <a:ext cx="334797" cy="206965"/>
          </a:xfrm>
          <a:custGeom>
            <a:avLst/>
            <a:gdLst/>
            <a:ahLst/>
            <a:cxnLst/>
            <a:rect r="r" b="b" t="t" l="l"/>
            <a:pathLst>
              <a:path h="206965" w="334797">
                <a:moveTo>
                  <a:pt x="0" y="0"/>
                </a:moveTo>
                <a:lnTo>
                  <a:pt x="334797" y="0"/>
                </a:lnTo>
                <a:lnTo>
                  <a:pt x="334797" y="206966"/>
                </a:lnTo>
                <a:lnTo>
                  <a:pt x="0" y="2069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3"/>
            <a:ext cx="18287998" cy="754857"/>
            <a:chOff x="0" y="0"/>
            <a:chExt cx="24383998" cy="10064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00100" y="0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104775"/>
              <a:ext cx="21945600" cy="2390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TECHNICAL APPROACH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30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626700" y="9635728"/>
            <a:ext cx="4806000" cy="547688"/>
            <a:chOff x="0" y="0"/>
            <a:chExt cx="6408000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64080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Quantum Leap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475610" y="161262"/>
            <a:ext cx="1915886" cy="1249101"/>
            <a:chOff x="0" y="0"/>
            <a:chExt cx="2554514" cy="1665468"/>
          </a:xfrm>
        </p:grpSpPr>
        <p:sp>
          <p:nvSpPr>
            <p:cNvPr name="Freeform 14" id="14" descr="Your startup LOGO"/>
            <p:cNvSpPr/>
            <p:nvPr/>
          </p:nvSpPr>
          <p:spPr>
            <a:xfrm flipH="false" flipV="false" rot="0">
              <a:off x="25400" y="25400"/>
              <a:ext cx="2503678" cy="1614678"/>
            </a:xfrm>
            <a:custGeom>
              <a:avLst/>
              <a:gdLst/>
              <a:ahLst/>
              <a:cxnLst/>
              <a:rect r="r" b="b" t="t" l="l"/>
              <a:pathLst>
                <a:path h="1614678" w="2503678">
                  <a:moveTo>
                    <a:pt x="0" y="807339"/>
                  </a:moveTo>
                  <a:cubicBezTo>
                    <a:pt x="0" y="361442"/>
                    <a:pt x="560451" y="0"/>
                    <a:pt x="1251839" y="0"/>
                  </a:cubicBezTo>
                  <a:cubicBezTo>
                    <a:pt x="1943227" y="0"/>
                    <a:pt x="2503678" y="361442"/>
                    <a:pt x="2503678" y="807339"/>
                  </a:cubicBezTo>
                  <a:cubicBezTo>
                    <a:pt x="2503678" y="1253236"/>
                    <a:pt x="1943227" y="1614678"/>
                    <a:pt x="1251839" y="1614678"/>
                  </a:cubicBezTo>
                  <a:cubicBezTo>
                    <a:pt x="560451" y="1614678"/>
                    <a:pt x="0" y="1253236"/>
                    <a:pt x="0" y="807339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5" id="15" descr="Your startup LOGO"/>
            <p:cNvSpPr/>
            <p:nvPr/>
          </p:nvSpPr>
          <p:spPr>
            <a:xfrm flipH="false" flipV="false" rot="0">
              <a:off x="0" y="0"/>
              <a:ext cx="2554478" cy="1665478"/>
            </a:xfrm>
            <a:custGeom>
              <a:avLst/>
              <a:gdLst/>
              <a:ahLst/>
              <a:cxnLst/>
              <a:rect r="r" b="b" t="t" l="l"/>
              <a:pathLst>
                <a:path h="1665478" w="2554478">
                  <a:moveTo>
                    <a:pt x="0" y="832739"/>
                  </a:moveTo>
                  <a:cubicBezTo>
                    <a:pt x="0" y="363855"/>
                    <a:pt x="583057" y="0"/>
                    <a:pt x="1277239" y="0"/>
                  </a:cubicBezTo>
                  <a:cubicBezTo>
                    <a:pt x="1971421" y="0"/>
                    <a:pt x="2554478" y="363855"/>
                    <a:pt x="2554478" y="832739"/>
                  </a:cubicBezTo>
                  <a:lnTo>
                    <a:pt x="2529078" y="832739"/>
                  </a:lnTo>
                  <a:lnTo>
                    <a:pt x="2554478" y="832739"/>
                  </a:lnTo>
                  <a:cubicBezTo>
                    <a:pt x="2554478" y="1301623"/>
                    <a:pt x="1971421" y="1665478"/>
                    <a:pt x="1277239" y="1665478"/>
                  </a:cubicBezTo>
                  <a:lnTo>
                    <a:pt x="1277239" y="1640078"/>
                  </a:lnTo>
                  <a:lnTo>
                    <a:pt x="1277239" y="1665478"/>
                  </a:lnTo>
                  <a:cubicBezTo>
                    <a:pt x="583057" y="1665478"/>
                    <a:pt x="0" y="1301623"/>
                    <a:pt x="0" y="832739"/>
                  </a:cubicBezTo>
                  <a:lnTo>
                    <a:pt x="25400" y="832739"/>
                  </a:lnTo>
                  <a:lnTo>
                    <a:pt x="50800" y="832739"/>
                  </a:lnTo>
                  <a:lnTo>
                    <a:pt x="25400" y="832739"/>
                  </a:lnTo>
                  <a:lnTo>
                    <a:pt x="0" y="832739"/>
                  </a:lnTo>
                  <a:moveTo>
                    <a:pt x="50800" y="832739"/>
                  </a:moveTo>
                  <a:cubicBezTo>
                    <a:pt x="50800" y="846709"/>
                    <a:pt x="39370" y="858139"/>
                    <a:pt x="25400" y="858139"/>
                  </a:cubicBezTo>
                  <a:cubicBezTo>
                    <a:pt x="11430" y="858139"/>
                    <a:pt x="0" y="846709"/>
                    <a:pt x="0" y="832739"/>
                  </a:cubicBezTo>
                  <a:cubicBezTo>
                    <a:pt x="0" y="818769"/>
                    <a:pt x="11430" y="807339"/>
                    <a:pt x="25400" y="807339"/>
                  </a:cubicBezTo>
                  <a:cubicBezTo>
                    <a:pt x="39370" y="807339"/>
                    <a:pt x="50800" y="818769"/>
                    <a:pt x="50800" y="832739"/>
                  </a:cubicBezTo>
                  <a:cubicBezTo>
                    <a:pt x="50800" y="1255522"/>
                    <a:pt x="588772" y="1614678"/>
                    <a:pt x="1277239" y="1614678"/>
                  </a:cubicBezTo>
                  <a:cubicBezTo>
                    <a:pt x="1965706" y="1614678"/>
                    <a:pt x="2503678" y="1255522"/>
                    <a:pt x="2503678" y="832739"/>
                  </a:cubicBezTo>
                  <a:cubicBezTo>
                    <a:pt x="2503678" y="409956"/>
                    <a:pt x="1965833" y="50800"/>
                    <a:pt x="1277239" y="50800"/>
                  </a:cubicBezTo>
                  <a:lnTo>
                    <a:pt x="1277239" y="25400"/>
                  </a:lnTo>
                  <a:lnTo>
                    <a:pt x="1277239" y="50800"/>
                  </a:lnTo>
                  <a:cubicBezTo>
                    <a:pt x="588772" y="50800"/>
                    <a:pt x="50800" y="409956"/>
                    <a:pt x="50800" y="832739"/>
                  </a:cubicBezTo>
                  <a:close/>
                </a:path>
              </a:pathLst>
            </a:custGeom>
            <a:solidFill>
              <a:srgbClr val="8064A2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2554514" cy="17226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Quantum Leap</a:t>
              </a:r>
            </a:p>
          </p:txBody>
        </p:sp>
      </p:grpSp>
      <p:grpSp>
        <p:nvGrpSpPr>
          <p:cNvPr name="Group 17" id="17"/>
          <p:cNvGrpSpPr>
            <a:grpSpLocks noChangeAspect="true"/>
          </p:cNvGrpSpPr>
          <p:nvPr/>
        </p:nvGrpSpPr>
        <p:grpSpPr>
          <a:xfrm rot="0">
            <a:off x="14713295" y="-56338"/>
            <a:ext cx="3313680" cy="1684302"/>
            <a:chOff x="0" y="0"/>
            <a:chExt cx="4418240" cy="2245736"/>
          </a:xfrm>
        </p:grpSpPr>
        <p:sp>
          <p:nvSpPr>
            <p:cNvPr name="Freeform 18" id="18" descr="https://www.sih.gov.in/img1/SIH-Logo.png"/>
            <p:cNvSpPr/>
            <p:nvPr/>
          </p:nvSpPr>
          <p:spPr>
            <a:xfrm flipH="false" flipV="false" rot="0">
              <a:off x="0" y="0"/>
              <a:ext cx="4418203" cy="2245741"/>
            </a:xfrm>
            <a:custGeom>
              <a:avLst/>
              <a:gdLst/>
              <a:ahLst/>
              <a:cxnLst/>
              <a:rect r="r" b="b" t="t" l="l"/>
              <a:pathLst>
                <a:path h="2245741" w="4418203">
                  <a:moveTo>
                    <a:pt x="0" y="0"/>
                  </a:moveTo>
                  <a:lnTo>
                    <a:pt x="4418203" y="0"/>
                  </a:lnTo>
                  <a:lnTo>
                    <a:pt x="4418203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-10800000">
            <a:off x="6972300" y="6490617"/>
            <a:ext cx="11177967" cy="1455696"/>
            <a:chOff x="0" y="0"/>
            <a:chExt cx="2943991" cy="38339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943991" cy="383393"/>
            </a:xfrm>
            <a:custGeom>
              <a:avLst/>
              <a:gdLst/>
              <a:ahLst/>
              <a:cxnLst/>
              <a:rect r="r" b="b" t="t" l="l"/>
              <a:pathLst>
                <a:path h="383393" w="2943991">
                  <a:moveTo>
                    <a:pt x="16623" y="0"/>
                  </a:moveTo>
                  <a:lnTo>
                    <a:pt x="2927369" y="0"/>
                  </a:lnTo>
                  <a:cubicBezTo>
                    <a:pt x="2936549" y="0"/>
                    <a:pt x="2943991" y="7442"/>
                    <a:pt x="2943991" y="16623"/>
                  </a:cubicBezTo>
                  <a:lnTo>
                    <a:pt x="2943991" y="366771"/>
                  </a:lnTo>
                  <a:cubicBezTo>
                    <a:pt x="2943991" y="375951"/>
                    <a:pt x="2936549" y="383393"/>
                    <a:pt x="2927369" y="383393"/>
                  </a:cubicBezTo>
                  <a:lnTo>
                    <a:pt x="16623" y="383393"/>
                  </a:lnTo>
                  <a:cubicBezTo>
                    <a:pt x="12214" y="383393"/>
                    <a:pt x="7986" y="381642"/>
                    <a:pt x="4869" y="378525"/>
                  </a:cubicBezTo>
                  <a:cubicBezTo>
                    <a:pt x="1751" y="375407"/>
                    <a:pt x="0" y="371179"/>
                    <a:pt x="0" y="366771"/>
                  </a:cubicBezTo>
                  <a:lnTo>
                    <a:pt x="0" y="16623"/>
                  </a:lnTo>
                  <a:cubicBezTo>
                    <a:pt x="0" y="7442"/>
                    <a:pt x="7442" y="0"/>
                    <a:pt x="16623" y="0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2943991" cy="4024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b="true" sz="1800">
                  <a:solidFill>
                    <a:srgbClr val="F2F2F2"/>
                  </a:solidFill>
                  <a:latin typeface="Arimo Bold"/>
                  <a:ea typeface="Arimo Bold"/>
                  <a:cs typeface="Arimo Bold"/>
                  <a:sym typeface="Arimo Bold"/>
                </a:rPr>
                <a:t>PRODUCT STATUS: Simulation tests successful. Hardware prototype in progress; testing and validation nextPRODUCT STATUS: Simulation tests successful. Hardware prototype in progress; testing and validation next</a:t>
              </a: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6972300" y="1508740"/>
            <a:ext cx="11177967" cy="4952557"/>
          </a:xfrm>
          <a:custGeom>
            <a:avLst/>
            <a:gdLst/>
            <a:ahLst/>
            <a:cxnLst/>
            <a:rect r="r" b="b" t="t" l="l"/>
            <a:pathLst>
              <a:path h="4952557" w="11177967">
                <a:moveTo>
                  <a:pt x="0" y="0"/>
                </a:moveTo>
                <a:lnTo>
                  <a:pt x="11177967" y="0"/>
                </a:lnTo>
                <a:lnTo>
                  <a:pt x="11177967" y="4952557"/>
                </a:lnTo>
                <a:lnTo>
                  <a:pt x="0" y="495255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519" t="0" r="-1519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77716" y="5551091"/>
            <a:ext cx="6631502" cy="1693545"/>
            <a:chOff x="0" y="0"/>
            <a:chExt cx="1746568" cy="44603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746568" cy="446037"/>
            </a:xfrm>
            <a:custGeom>
              <a:avLst/>
              <a:gdLst/>
              <a:ahLst/>
              <a:cxnLst/>
              <a:rect r="r" b="b" t="t" l="l"/>
              <a:pathLst>
                <a:path h="446037" w="1746568">
                  <a:moveTo>
                    <a:pt x="59540" y="0"/>
                  </a:moveTo>
                  <a:lnTo>
                    <a:pt x="1687029" y="0"/>
                  </a:lnTo>
                  <a:cubicBezTo>
                    <a:pt x="1702820" y="0"/>
                    <a:pt x="1717964" y="6273"/>
                    <a:pt x="1729130" y="17439"/>
                  </a:cubicBezTo>
                  <a:cubicBezTo>
                    <a:pt x="1740296" y="28605"/>
                    <a:pt x="1746568" y="43749"/>
                    <a:pt x="1746568" y="59540"/>
                  </a:cubicBezTo>
                  <a:lnTo>
                    <a:pt x="1746568" y="386497"/>
                  </a:lnTo>
                  <a:cubicBezTo>
                    <a:pt x="1746568" y="402288"/>
                    <a:pt x="1740296" y="417432"/>
                    <a:pt x="1729130" y="428598"/>
                  </a:cubicBezTo>
                  <a:cubicBezTo>
                    <a:pt x="1717964" y="439764"/>
                    <a:pt x="1702820" y="446037"/>
                    <a:pt x="1687029" y="446037"/>
                  </a:cubicBezTo>
                  <a:lnTo>
                    <a:pt x="59540" y="446037"/>
                  </a:lnTo>
                  <a:cubicBezTo>
                    <a:pt x="43749" y="446037"/>
                    <a:pt x="28605" y="439764"/>
                    <a:pt x="17439" y="428598"/>
                  </a:cubicBezTo>
                  <a:cubicBezTo>
                    <a:pt x="6273" y="417432"/>
                    <a:pt x="0" y="402288"/>
                    <a:pt x="0" y="386497"/>
                  </a:cubicBezTo>
                  <a:lnTo>
                    <a:pt x="0" y="59540"/>
                  </a:lnTo>
                  <a:cubicBezTo>
                    <a:pt x="0" y="43749"/>
                    <a:pt x="6273" y="28605"/>
                    <a:pt x="17439" y="17439"/>
                  </a:cubicBezTo>
                  <a:cubicBezTo>
                    <a:pt x="28605" y="6273"/>
                    <a:pt x="43749" y="0"/>
                    <a:pt x="59540" y="0"/>
                  </a:cubicBez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9050"/>
              <a:ext cx="1746568" cy="4650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215664" y="5988571"/>
            <a:ext cx="6340453" cy="1495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68"/>
              </a:lnSpc>
              <a:spcBef>
                <a:spcPct val="0"/>
              </a:spcBef>
            </a:pPr>
          </a:p>
          <a:p>
            <a:pPr algn="ctr">
              <a:lnSpc>
                <a:spcPts val="2868"/>
              </a:lnSpc>
              <a:spcBef>
                <a:spcPct val="0"/>
              </a:spcBef>
            </a:pPr>
            <a:r>
              <a:rPr lang="en-US" b="true" sz="239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RS485 (sub-meter) and LoRa (fence sensors) for reliable wired and wireless data transfer.</a:t>
            </a:r>
          </a:p>
          <a:p>
            <a:pPr algn="ctr">
              <a:lnSpc>
                <a:spcPts val="2868"/>
              </a:lnSpc>
              <a:spcBef>
                <a:spcPct val="0"/>
              </a:spcBef>
            </a:pPr>
          </a:p>
        </p:txBody>
      </p:sp>
      <p:grpSp>
        <p:nvGrpSpPr>
          <p:cNvPr name="Group 27" id="27"/>
          <p:cNvGrpSpPr/>
          <p:nvPr/>
        </p:nvGrpSpPr>
        <p:grpSpPr>
          <a:xfrm rot="0">
            <a:off x="146137" y="1567411"/>
            <a:ext cx="6669085" cy="1806103"/>
            <a:chOff x="0" y="0"/>
            <a:chExt cx="1756467" cy="47568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756467" cy="475681"/>
            </a:xfrm>
            <a:custGeom>
              <a:avLst/>
              <a:gdLst/>
              <a:ahLst/>
              <a:cxnLst/>
              <a:rect r="r" b="b" t="t" l="l"/>
              <a:pathLst>
                <a:path h="475681" w="1756467">
                  <a:moveTo>
                    <a:pt x="27861" y="0"/>
                  </a:moveTo>
                  <a:lnTo>
                    <a:pt x="1728606" y="0"/>
                  </a:lnTo>
                  <a:cubicBezTo>
                    <a:pt x="1743993" y="0"/>
                    <a:pt x="1756467" y="12474"/>
                    <a:pt x="1756467" y="27861"/>
                  </a:cubicBezTo>
                  <a:lnTo>
                    <a:pt x="1756467" y="447821"/>
                  </a:lnTo>
                  <a:cubicBezTo>
                    <a:pt x="1756467" y="463208"/>
                    <a:pt x="1743993" y="475681"/>
                    <a:pt x="1728606" y="475681"/>
                  </a:cubicBezTo>
                  <a:lnTo>
                    <a:pt x="27861" y="475681"/>
                  </a:lnTo>
                  <a:cubicBezTo>
                    <a:pt x="12474" y="475681"/>
                    <a:pt x="0" y="463208"/>
                    <a:pt x="0" y="447821"/>
                  </a:cubicBezTo>
                  <a:lnTo>
                    <a:pt x="0" y="27861"/>
                  </a:lnTo>
                  <a:cubicBezTo>
                    <a:pt x="0" y="12474"/>
                    <a:pt x="12474" y="0"/>
                    <a:pt x="27861" y="0"/>
                  </a:cubicBez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19050"/>
              <a:ext cx="1756467" cy="4947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00539" y="3497339"/>
            <a:ext cx="6631502" cy="1806103"/>
            <a:chOff x="0" y="0"/>
            <a:chExt cx="1746568" cy="475681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746568" cy="475681"/>
            </a:xfrm>
            <a:custGeom>
              <a:avLst/>
              <a:gdLst/>
              <a:ahLst/>
              <a:cxnLst/>
              <a:rect r="r" b="b" t="t" l="l"/>
              <a:pathLst>
                <a:path h="475681" w="1746568">
                  <a:moveTo>
                    <a:pt x="28019" y="0"/>
                  </a:moveTo>
                  <a:lnTo>
                    <a:pt x="1718550" y="0"/>
                  </a:lnTo>
                  <a:cubicBezTo>
                    <a:pt x="1734024" y="0"/>
                    <a:pt x="1746568" y="12544"/>
                    <a:pt x="1746568" y="28019"/>
                  </a:cubicBezTo>
                  <a:lnTo>
                    <a:pt x="1746568" y="447663"/>
                  </a:lnTo>
                  <a:cubicBezTo>
                    <a:pt x="1746568" y="463137"/>
                    <a:pt x="1734024" y="475681"/>
                    <a:pt x="1718550" y="475681"/>
                  </a:cubicBezTo>
                  <a:lnTo>
                    <a:pt x="28019" y="475681"/>
                  </a:lnTo>
                  <a:cubicBezTo>
                    <a:pt x="12544" y="475681"/>
                    <a:pt x="0" y="463137"/>
                    <a:pt x="0" y="447663"/>
                  </a:cubicBezTo>
                  <a:lnTo>
                    <a:pt x="0" y="28019"/>
                  </a:lnTo>
                  <a:cubicBezTo>
                    <a:pt x="0" y="12544"/>
                    <a:pt x="12544" y="0"/>
                    <a:pt x="28019" y="0"/>
                  </a:cubicBez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9050"/>
              <a:ext cx="1746568" cy="4947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32509" y="2095259"/>
            <a:ext cx="6782713" cy="1676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95"/>
              </a:lnSpc>
            </a:pPr>
          </a:p>
          <a:p>
            <a:pPr algn="ctr">
              <a:lnSpc>
                <a:spcPts val="2695"/>
              </a:lnSpc>
              <a:spcBef>
                <a:spcPct val="0"/>
              </a:spcBef>
            </a:pPr>
            <a:r>
              <a:rPr lang="en-US" b="true" sz="2246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ESP32 microcontroller, CT &amp; voltage sensors,                    Pulsedetector, RS485 &amp; LoRa modules, SD card.</a:t>
            </a:r>
          </a:p>
          <a:p>
            <a:pPr algn="ctr">
              <a:lnSpc>
                <a:spcPts val="2695"/>
              </a:lnSpc>
              <a:spcBef>
                <a:spcPct val="0"/>
              </a:spcBef>
            </a:pPr>
          </a:p>
          <a:p>
            <a:pPr algn="ctr">
              <a:lnSpc>
                <a:spcPts val="2695"/>
              </a:lnSpc>
              <a:spcBef>
                <a:spcPct val="0"/>
              </a:spcBef>
            </a:pPr>
          </a:p>
        </p:txBody>
      </p:sp>
      <p:sp>
        <p:nvSpPr>
          <p:cNvPr name="TextBox 34" id="34"/>
          <p:cNvSpPr txBox="true"/>
          <p:nvPr/>
        </p:nvSpPr>
        <p:spPr>
          <a:xfrm rot="0">
            <a:off x="-1342763" y="1746644"/>
            <a:ext cx="6590479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  <a:spcBef>
                <a:spcPct val="0"/>
              </a:spcBef>
            </a:pPr>
            <a:r>
              <a:rPr lang="en-US" b="true" sz="2700" u="sng">
                <a:solidFill>
                  <a:srgbClr val="0097B2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Hardware Development: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-583770" y="3484166"/>
            <a:ext cx="6590479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  <a:spcBef>
                <a:spcPct val="0"/>
              </a:spcBef>
            </a:pPr>
            <a:r>
              <a:rPr lang="en-US" b="true" sz="2700" u="sng">
                <a:solidFill>
                  <a:srgbClr val="0097B2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Algo</a:t>
            </a:r>
            <a:r>
              <a:rPr lang="en-US" b="true" sz="2700" u="sng">
                <a:solidFill>
                  <a:srgbClr val="0097B2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rithms / Logic Development: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-1725376" y="5669484"/>
            <a:ext cx="6590479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  <a:spcBef>
                <a:spcPct val="0"/>
              </a:spcBef>
            </a:pPr>
            <a:r>
              <a:rPr lang="en-US" b="true" sz="2700" u="sng">
                <a:solidFill>
                  <a:srgbClr val="0097B2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Commun</a:t>
            </a:r>
            <a:r>
              <a:rPr lang="en-US" b="true" sz="2700" u="sng">
                <a:solidFill>
                  <a:srgbClr val="0097B2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ication: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161336" y="7446352"/>
            <a:ext cx="6631502" cy="1806103"/>
            <a:chOff x="0" y="0"/>
            <a:chExt cx="1746568" cy="475681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746568" cy="475681"/>
            </a:xfrm>
            <a:custGeom>
              <a:avLst/>
              <a:gdLst/>
              <a:ahLst/>
              <a:cxnLst/>
              <a:rect r="r" b="b" t="t" l="l"/>
              <a:pathLst>
                <a:path h="475681" w="1746568">
                  <a:moveTo>
                    <a:pt x="28019" y="0"/>
                  </a:moveTo>
                  <a:lnTo>
                    <a:pt x="1718550" y="0"/>
                  </a:lnTo>
                  <a:cubicBezTo>
                    <a:pt x="1734024" y="0"/>
                    <a:pt x="1746568" y="12544"/>
                    <a:pt x="1746568" y="28019"/>
                  </a:cubicBezTo>
                  <a:lnTo>
                    <a:pt x="1746568" y="447663"/>
                  </a:lnTo>
                  <a:cubicBezTo>
                    <a:pt x="1746568" y="463137"/>
                    <a:pt x="1734024" y="475681"/>
                    <a:pt x="1718550" y="475681"/>
                  </a:cubicBezTo>
                  <a:lnTo>
                    <a:pt x="28019" y="475681"/>
                  </a:lnTo>
                  <a:cubicBezTo>
                    <a:pt x="12544" y="475681"/>
                    <a:pt x="0" y="463137"/>
                    <a:pt x="0" y="447663"/>
                  </a:cubicBezTo>
                  <a:lnTo>
                    <a:pt x="0" y="28019"/>
                  </a:lnTo>
                  <a:cubicBezTo>
                    <a:pt x="0" y="12544"/>
                    <a:pt x="12544" y="0"/>
                    <a:pt x="28019" y="0"/>
                  </a:cubicBez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19050"/>
              <a:ext cx="1746568" cy="4947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238879" y="7674952"/>
            <a:ext cx="6058514" cy="1135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62"/>
              </a:lnSpc>
              <a:spcBef>
                <a:spcPct val="0"/>
              </a:spcBef>
            </a:pPr>
          </a:p>
          <a:p>
            <a:pPr algn="ctr">
              <a:lnSpc>
                <a:spcPts val="2862"/>
              </a:lnSpc>
              <a:spcBef>
                <a:spcPct val="0"/>
              </a:spcBef>
            </a:pPr>
            <a:r>
              <a:rPr lang="en-US" b="true" sz="2385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Logs stored on SD card; barcode generated</a:t>
            </a:r>
          </a:p>
          <a:p>
            <a:pPr algn="ctr">
              <a:lnSpc>
                <a:spcPts val="2862"/>
              </a:lnSpc>
              <a:spcBef>
                <a:spcPct val="0"/>
              </a:spcBef>
            </a:pPr>
            <a:r>
              <a:rPr lang="en-US" b="true" sz="2385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for inspection.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-1557546" y="7550671"/>
            <a:ext cx="6590479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  <a:spcBef>
                <a:spcPct val="0"/>
              </a:spcBef>
            </a:pPr>
            <a:r>
              <a:rPr lang="en-US" b="true" sz="2700" u="sng">
                <a:solidFill>
                  <a:srgbClr val="0097B2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Stor</a:t>
            </a:r>
            <a:r>
              <a:rPr lang="en-US" b="true" sz="2700" u="sng">
                <a:solidFill>
                  <a:srgbClr val="0097B2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age &amp; Output: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53322" y="3922316"/>
            <a:ext cx="6480290" cy="1428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29"/>
              </a:lnSpc>
              <a:spcBef>
                <a:spcPct val="0"/>
              </a:spcBef>
            </a:pPr>
            <a:r>
              <a:rPr lang="en-US" b="true" sz="2274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ESP32 analyzes sub-meter power and current via ADC, reads fence sensor data, checks multiple cases, and confirms anomalies multiple times using C code on the microcontroller. 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7757286" y="7161315"/>
            <a:ext cx="10269689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7"/>
              </a:lnSpc>
              <a:spcBef>
                <a:spcPct val="0"/>
              </a:spcBef>
            </a:pPr>
            <a:r>
              <a:rPr lang="en-US" sz="258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Simulation tests successful. Hardware prototype in progress; testing and validation next.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5568835" y="6686008"/>
            <a:ext cx="6590479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  <a:spcBef>
                <a:spcPct val="0"/>
              </a:spcBef>
            </a:pPr>
            <a:r>
              <a:rPr lang="en-US" b="true" sz="2700" u="sng">
                <a:solidFill>
                  <a:srgbClr val="0097B2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PRODUCT STATUS</a:t>
            </a:r>
            <a:r>
              <a:rPr lang="en-US" b="true" sz="2700" u="sng">
                <a:solidFill>
                  <a:srgbClr val="0097B2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: </a:t>
            </a:r>
          </a:p>
        </p:txBody>
      </p:sp>
      <p:grpSp>
        <p:nvGrpSpPr>
          <p:cNvPr name="Group 45" id="45"/>
          <p:cNvGrpSpPr/>
          <p:nvPr/>
        </p:nvGrpSpPr>
        <p:grpSpPr>
          <a:xfrm rot="-10800000">
            <a:off x="6972300" y="8065857"/>
            <a:ext cx="11177967" cy="1455696"/>
            <a:chOff x="0" y="0"/>
            <a:chExt cx="2943991" cy="383393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943991" cy="383393"/>
            </a:xfrm>
            <a:custGeom>
              <a:avLst/>
              <a:gdLst/>
              <a:ahLst/>
              <a:cxnLst/>
              <a:rect r="r" b="b" t="t" l="l"/>
              <a:pathLst>
                <a:path h="383393" w="2943991">
                  <a:moveTo>
                    <a:pt x="16623" y="0"/>
                  </a:moveTo>
                  <a:lnTo>
                    <a:pt x="2927369" y="0"/>
                  </a:lnTo>
                  <a:cubicBezTo>
                    <a:pt x="2936549" y="0"/>
                    <a:pt x="2943991" y="7442"/>
                    <a:pt x="2943991" y="16623"/>
                  </a:cubicBezTo>
                  <a:lnTo>
                    <a:pt x="2943991" y="366771"/>
                  </a:lnTo>
                  <a:cubicBezTo>
                    <a:pt x="2943991" y="375951"/>
                    <a:pt x="2936549" y="383393"/>
                    <a:pt x="2927369" y="383393"/>
                  </a:cubicBezTo>
                  <a:lnTo>
                    <a:pt x="16623" y="383393"/>
                  </a:lnTo>
                  <a:cubicBezTo>
                    <a:pt x="12214" y="383393"/>
                    <a:pt x="7986" y="381642"/>
                    <a:pt x="4869" y="378525"/>
                  </a:cubicBezTo>
                  <a:cubicBezTo>
                    <a:pt x="1751" y="375407"/>
                    <a:pt x="0" y="371179"/>
                    <a:pt x="0" y="366771"/>
                  </a:cubicBezTo>
                  <a:lnTo>
                    <a:pt x="0" y="16623"/>
                  </a:lnTo>
                  <a:cubicBezTo>
                    <a:pt x="0" y="7442"/>
                    <a:pt x="7442" y="0"/>
                    <a:pt x="16623" y="0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19050"/>
              <a:ext cx="2943991" cy="4024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b="true" sz="1800">
                  <a:solidFill>
                    <a:srgbClr val="F2F2F2"/>
                  </a:solidFill>
                  <a:latin typeface="Arimo Bold"/>
                  <a:ea typeface="Arimo Bold"/>
                  <a:cs typeface="Arimo Bold"/>
                  <a:sym typeface="Arimo Bold"/>
                </a:rPr>
                <a:t>PRODUCT STATUS: Simulation tests successful. Hardware prototype in progress; testing and validation nextPRODUCT STATUS: Simulation tests successful. Hardware prototype in progress; testing and validation next</a:t>
              </a:r>
            </a:p>
          </p:txBody>
        </p:sp>
      </p:grpSp>
      <p:sp>
        <p:nvSpPr>
          <p:cNvPr name="TextBox 48" id="48"/>
          <p:cNvSpPr txBox="true"/>
          <p:nvPr/>
        </p:nvSpPr>
        <p:spPr>
          <a:xfrm rot="0">
            <a:off x="7171387" y="8292254"/>
            <a:ext cx="8582073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  <a:spcBef>
                <a:spcPct val="0"/>
              </a:spcBef>
            </a:pPr>
            <a:r>
              <a:rPr lang="en-US" b="true" sz="2600" u="sng">
                <a:solidFill>
                  <a:srgbClr val="0097B2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Simulation Link:</a:t>
            </a:r>
            <a:r>
              <a:rPr lang="en-US" sz="2600">
                <a:solidFill>
                  <a:srgbClr val="19191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-US" sz="2600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5" tooltip="https://go.screenpal.com/watch/cTQbfrnoN6L"/>
              </a:rPr>
              <a:t>Simulation 1</a:t>
            </a:r>
            <a:r>
              <a:rPr lang="en-US" sz="2600">
                <a:solidFill>
                  <a:srgbClr val="0097B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>
                <a:solidFill>
                  <a:srgbClr val="19191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&amp; </a:t>
            </a:r>
            <a:r>
              <a:rPr lang="en-US" sz="2600">
                <a:solidFill>
                  <a:srgbClr val="0097B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u="sng">
                <a:solidFill>
                  <a:srgbClr val="191919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6" tooltip="https://go.screenpal.com/watch/cTQbfrnoN6N"/>
              </a:rPr>
              <a:t>Simulation 2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7171387" y="8810625"/>
            <a:ext cx="10202213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  <a:spcBef>
                <a:spcPct val="0"/>
              </a:spcBef>
            </a:pPr>
            <a:r>
              <a:rPr lang="en-US" b="true" sz="2600" u="sng">
                <a:solidFill>
                  <a:srgbClr val="0097B2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Future AI Integration Plan Link:</a:t>
            </a:r>
            <a:r>
              <a:rPr lang="en-US" sz="2600">
                <a:solidFill>
                  <a:srgbClr val="19191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u="sng">
                <a:solidFill>
                  <a:srgbClr val="191919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7" tooltip="https://pdf.ac/uHFubpK6_X"/>
              </a:rPr>
              <a:t> AI Integration Plan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3"/>
            <a:ext cx="18287998" cy="754857"/>
            <a:chOff x="0" y="0"/>
            <a:chExt cx="24383998" cy="10064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104775"/>
              <a:ext cx="21945600" cy="2390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FEASIBILITY AND VIABILITY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30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4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741000" y="9635728"/>
            <a:ext cx="4806000" cy="547688"/>
            <a:chOff x="0" y="0"/>
            <a:chExt cx="6408000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64080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Quantum Leap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475610" y="0"/>
            <a:ext cx="1915886" cy="1249101"/>
            <a:chOff x="0" y="0"/>
            <a:chExt cx="2554514" cy="1665468"/>
          </a:xfrm>
        </p:grpSpPr>
        <p:sp>
          <p:nvSpPr>
            <p:cNvPr name="Freeform 14" id="14" descr="Your startup LOGO"/>
            <p:cNvSpPr/>
            <p:nvPr/>
          </p:nvSpPr>
          <p:spPr>
            <a:xfrm flipH="false" flipV="false" rot="0">
              <a:off x="25400" y="25400"/>
              <a:ext cx="2503678" cy="1614678"/>
            </a:xfrm>
            <a:custGeom>
              <a:avLst/>
              <a:gdLst/>
              <a:ahLst/>
              <a:cxnLst/>
              <a:rect r="r" b="b" t="t" l="l"/>
              <a:pathLst>
                <a:path h="1614678" w="2503678">
                  <a:moveTo>
                    <a:pt x="0" y="807339"/>
                  </a:moveTo>
                  <a:cubicBezTo>
                    <a:pt x="0" y="361442"/>
                    <a:pt x="560451" y="0"/>
                    <a:pt x="1251839" y="0"/>
                  </a:cubicBezTo>
                  <a:cubicBezTo>
                    <a:pt x="1943227" y="0"/>
                    <a:pt x="2503678" y="361442"/>
                    <a:pt x="2503678" y="807339"/>
                  </a:cubicBezTo>
                  <a:cubicBezTo>
                    <a:pt x="2503678" y="1253236"/>
                    <a:pt x="1943227" y="1614678"/>
                    <a:pt x="1251839" y="1614678"/>
                  </a:cubicBezTo>
                  <a:cubicBezTo>
                    <a:pt x="560451" y="1614678"/>
                    <a:pt x="0" y="1253236"/>
                    <a:pt x="0" y="807339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5" id="15" descr="Your startup LOGO"/>
            <p:cNvSpPr/>
            <p:nvPr/>
          </p:nvSpPr>
          <p:spPr>
            <a:xfrm flipH="false" flipV="false" rot="0">
              <a:off x="0" y="0"/>
              <a:ext cx="2554478" cy="1665478"/>
            </a:xfrm>
            <a:custGeom>
              <a:avLst/>
              <a:gdLst/>
              <a:ahLst/>
              <a:cxnLst/>
              <a:rect r="r" b="b" t="t" l="l"/>
              <a:pathLst>
                <a:path h="1665478" w="2554478">
                  <a:moveTo>
                    <a:pt x="0" y="832739"/>
                  </a:moveTo>
                  <a:cubicBezTo>
                    <a:pt x="0" y="363855"/>
                    <a:pt x="583057" y="0"/>
                    <a:pt x="1277239" y="0"/>
                  </a:cubicBezTo>
                  <a:cubicBezTo>
                    <a:pt x="1971421" y="0"/>
                    <a:pt x="2554478" y="363855"/>
                    <a:pt x="2554478" y="832739"/>
                  </a:cubicBezTo>
                  <a:lnTo>
                    <a:pt x="2529078" y="832739"/>
                  </a:lnTo>
                  <a:lnTo>
                    <a:pt x="2554478" y="832739"/>
                  </a:lnTo>
                  <a:cubicBezTo>
                    <a:pt x="2554478" y="1301623"/>
                    <a:pt x="1971421" y="1665478"/>
                    <a:pt x="1277239" y="1665478"/>
                  </a:cubicBezTo>
                  <a:lnTo>
                    <a:pt x="1277239" y="1640078"/>
                  </a:lnTo>
                  <a:lnTo>
                    <a:pt x="1277239" y="1665478"/>
                  </a:lnTo>
                  <a:cubicBezTo>
                    <a:pt x="583057" y="1665478"/>
                    <a:pt x="0" y="1301623"/>
                    <a:pt x="0" y="832739"/>
                  </a:cubicBezTo>
                  <a:lnTo>
                    <a:pt x="25400" y="832739"/>
                  </a:lnTo>
                  <a:lnTo>
                    <a:pt x="50800" y="832739"/>
                  </a:lnTo>
                  <a:lnTo>
                    <a:pt x="25400" y="832739"/>
                  </a:lnTo>
                  <a:lnTo>
                    <a:pt x="0" y="832739"/>
                  </a:lnTo>
                  <a:moveTo>
                    <a:pt x="50800" y="832739"/>
                  </a:moveTo>
                  <a:cubicBezTo>
                    <a:pt x="50800" y="846709"/>
                    <a:pt x="39370" y="858139"/>
                    <a:pt x="25400" y="858139"/>
                  </a:cubicBezTo>
                  <a:cubicBezTo>
                    <a:pt x="11430" y="858139"/>
                    <a:pt x="0" y="846709"/>
                    <a:pt x="0" y="832739"/>
                  </a:cubicBezTo>
                  <a:cubicBezTo>
                    <a:pt x="0" y="818769"/>
                    <a:pt x="11430" y="807339"/>
                    <a:pt x="25400" y="807339"/>
                  </a:cubicBezTo>
                  <a:cubicBezTo>
                    <a:pt x="39370" y="807339"/>
                    <a:pt x="50800" y="818769"/>
                    <a:pt x="50800" y="832739"/>
                  </a:cubicBezTo>
                  <a:cubicBezTo>
                    <a:pt x="50800" y="1255522"/>
                    <a:pt x="588772" y="1614678"/>
                    <a:pt x="1277239" y="1614678"/>
                  </a:cubicBezTo>
                  <a:cubicBezTo>
                    <a:pt x="1965706" y="1614678"/>
                    <a:pt x="2503678" y="1255522"/>
                    <a:pt x="2503678" y="832739"/>
                  </a:cubicBezTo>
                  <a:cubicBezTo>
                    <a:pt x="2503678" y="409956"/>
                    <a:pt x="1965833" y="50800"/>
                    <a:pt x="1277239" y="50800"/>
                  </a:cubicBezTo>
                  <a:lnTo>
                    <a:pt x="1277239" y="25400"/>
                  </a:lnTo>
                  <a:lnTo>
                    <a:pt x="1277239" y="50800"/>
                  </a:lnTo>
                  <a:cubicBezTo>
                    <a:pt x="588772" y="50800"/>
                    <a:pt x="50800" y="409956"/>
                    <a:pt x="50800" y="832739"/>
                  </a:cubicBezTo>
                  <a:close/>
                </a:path>
              </a:pathLst>
            </a:custGeom>
            <a:solidFill>
              <a:srgbClr val="8064A2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2554514" cy="17226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Quantum Leap</a:t>
              </a:r>
            </a:p>
          </p:txBody>
        </p:sp>
      </p:grpSp>
      <p:grpSp>
        <p:nvGrpSpPr>
          <p:cNvPr name="Group 17" id="17"/>
          <p:cNvGrpSpPr>
            <a:grpSpLocks noChangeAspect="true"/>
          </p:cNvGrpSpPr>
          <p:nvPr/>
        </p:nvGrpSpPr>
        <p:grpSpPr>
          <a:xfrm rot="0">
            <a:off x="15240000" y="-145568"/>
            <a:ext cx="2743859" cy="1394669"/>
            <a:chOff x="0" y="0"/>
            <a:chExt cx="4418240" cy="2245736"/>
          </a:xfrm>
        </p:grpSpPr>
        <p:sp>
          <p:nvSpPr>
            <p:cNvPr name="Freeform 18" id="18" descr="https://www.sih.gov.in/img1/SIH-Logo.png"/>
            <p:cNvSpPr/>
            <p:nvPr/>
          </p:nvSpPr>
          <p:spPr>
            <a:xfrm flipH="false" flipV="false" rot="0">
              <a:off x="0" y="0"/>
              <a:ext cx="4418203" cy="2245741"/>
            </a:xfrm>
            <a:custGeom>
              <a:avLst/>
              <a:gdLst/>
              <a:ahLst/>
              <a:cxnLst/>
              <a:rect r="r" b="b" t="t" l="l"/>
              <a:pathLst>
                <a:path h="2245741" w="4418203">
                  <a:moveTo>
                    <a:pt x="0" y="0"/>
                  </a:moveTo>
                  <a:lnTo>
                    <a:pt x="4418203" y="0"/>
                  </a:lnTo>
                  <a:lnTo>
                    <a:pt x="4418203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914400" y="1382648"/>
            <a:ext cx="7282705" cy="4199862"/>
            <a:chOff x="0" y="0"/>
            <a:chExt cx="1918079" cy="110613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918079" cy="1106136"/>
            </a:xfrm>
            <a:custGeom>
              <a:avLst/>
              <a:gdLst/>
              <a:ahLst/>
              <a:cxnLst/>
              <a:rect r="r" b="b" t="t" l="l"/>
              <a:pathLst>
                <a:path h="1106136" w="1918079">
                  <a:moveTo>
                    <a:pt x="54216" y="0"/>
                  </a:moveTo>
                  <a:lnTo>
                    <a:pt x="1863863" y="0"/>
                  </a:lnTo>
                  <a:cubicBezTo>
                    <a:pt x="1893805" y="0"/>
                    <a:pt x="1918079" y="24273"/>
                    <a:pt x="1918079" y="54216"/>
                  </a:cubicBezTo>
                  <a:lnTo>
                    <a:pt x="1918079" y="1051920"/>
                  </a:lnTo>
                  <a:cubicBezTo>
                    <a:pt x="1918079" y="1066299"/>
                    <a:pt x="1912367" y="1080089"/>
                    <a:pt x="1902199" y="1090257"/>
                  </a:cubicBezTo>
                  <a:cubicBezTo>
                    <a:pt x="1892032" y="1100424"/>
                    <a:pt x="1878242" y="1106136"/>
                    <a:pt x="1863863" y="1106136"/>
                  </a:cubicBezTo>
                  <a:lnTo>
                    <a:pt x="54216" y="1106136"/>
                  </a:lnTo>
                  <a:cubicBezTo>
                    <a:pt x="39837" y="1106136"/>
                    <a:pt x="26047" y="1100424"/>
                    <a:pt x="15879" y="1090257"/>
                  </a:cubicBezTo>
                  <a:cubicBezTo>
                    <a:pt x="5712" y="1080089"/>
                    <a:pt x="0" y="1066299"/>
                    <a:pt x="0" y="1051920"/>
                  </a:cubicBezTo>
                  <a:lnTo>
                    <a:pt x="0" y="54216"/>
                  </a:lnTo>
                  <a:cubicBezTo>
                    <a:pt x="0" y="39837"/>
                    <a:pt x="5712" y="26047"/>
                    <a:pt x="15879" y="15879"/>
                  </a:cubicBezTo>
                  <a:cubicBezTo>
                    <a:pt x="26047" y="5712"/>
                    <a:pt x="39837" y="0"/>
                    <a:pt x="54216" y="0"/>
                  </a:cubicBezTo>
                  <a:close/>
                </a:path>
              </a:pathLst>
            </a:custGeom>
            <a:solidFill>
              <a:srgbClr val="F7F7F7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1918079" cy="11251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AutoShape 22" id="22"/>
          <p:cNvSpPr/>
          <p:nvPr/>
        </p:nvSpPr>
        <p:spPr>
          <a:xfrm>
            <a:off x="895300" y="5582510"/>
            <a:ext cx="7301805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3" id="23"/>
          <p:cNvSpPr/>
          <p:nvPr/>
        </p:nvSpPr>
        <p:spPr>
          <a:xfrm>
            <a:off x="8197105" y="1382648"/>
            <a:ext cx="0" cy="419986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4" id="24"/>
          <p:cNvSpPr/>
          <p:nvPr/>
        </p:nvSpPr>
        <p:spPr>
          <a:xfrm flipV="true">
            <a:off x="914350" y="1401698"/>
            <a:ext cx="7282755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5" id="25"/>
          <p:cNvSpPr/>
          <p:nvPr/>
        </p:nvSpPr>
        <p:spPr>
          <a:xfrm flipH="true">
            <a:off x="895300" y="1382648"/>
            <a:ext cx="0" cy="418081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6" id="26"/>
          <p:cNvSpPr txBox="true"/>
          <p:nvPr/>
        </p:nvSpPr>
        <p:spPr>
          <a:xfrm rot="0">
            <a:off x="0" y="5850398"/>
            <a:ext cx="9392860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  <a:spcBef>
                <a:spcPct val="0"/>
              </a:spcBef>
            </a:pPr>
            <a:r>
              <a:rPr lang="en-US" b="true" sz="2400" u="sng">
                <a:solidFill>
                  <a:srgbClr val="0097B2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STRATEG</a:t>
            </a:r>
            <a:r>
              <a:rPr lang="en-US" b="true" sz="2400" u="sng">
                <a:solidFill>
                  <a:srgbClr val="0097B2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IES FOR OVERCOMING THESE C</a:t>
            </a:r>
            <a:r>
              <a:rPr lang="en-US" b="true" sz="2400" u="sng">
                <a:solidFill>
                  <a:srgbClr val="0097B2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HALLENGES</a:t>
            </a:r>
          </a:p>
          <a:p>
            <a:pPr algn="ctr">
              <a:lnSpc>
                <a:spcPts val="2879"/>
              </a:lnSpc>
              <a:spcBef>
                <a:spcPct val="0"/>
              </a:spcBef>
            </a:pPr>
          </a:p>
        </p:txBody>
      </p:sp>
      <p:grpSp>
        <p:nvGrpSpPr>
          <p:cNvPr name="Group 27" id="27"/>
          <p:cNvGrpSpPr/>
          <p:nvPr/>
        </p:nvGrpSpPr>
        <p:grpSpPr>
          <a:xfrm rot="0">
            <a:off x="293700" y="6487385"/>
            <a:ext cx="8094840" cy="770871"/>
            <a:chOff x="0" y="0"/>
            <a:chExt cx="2131974" cy="20302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131974" cy="203028"/>
            </a:xfrm>
            <a:custGeom>
              <a:avLst/>
              <a:gdLst/>
              <a:ahLst/>
              <a:cxnLst/>
              <a:rect r="r" b="b" t="t" l="l"/>
              <a:pathLst>
                <a:path h="203028" w="2131974">
                  <a:moveTo>
                    <a:pt x="22954" y="0"/>
                  </a:moveTo>
                  <a:lnTo>
                    <a:pt x="2109021" y="0"/>
                  </a:lnTo>
                  <a:cubicBezTo>
                    <a:pt x="2121698" y="0"/>
                    <a:pt x="2131974" y="10277"/>
                    <a:pt x="2131974" y="22954"/>
                  </a:cubicBezTo>
                  <a:lnTo>
                    <a:pt x="2131974" y="180074"/>
                  </a:lnTo>
                  <a:cubicBezTo>
                    <a:pt x="2131974" y="192751"/>
                    <a:pt x="2121698" y="203028"/>
                    <a:pt x="2109021" y="203028"/>
                  </a:cubicBezTo>
                  <a:lnTo>
                    <a:pt x="22954" y="203028"/>
                  </a:lnTo>
                  <a:cubicBezTo>
                    <a:pt x="10277" y="203028"/>
                    <a:pt x="0" y="192751"/>
                    <a:pt x="0" y="180074"/>
                  </a:cubicBezTo>
                  <a:lnTo>
                    <a:pt x="0" y="22954"/>
                  </a:lnTo>
                  <a:cubicBezTo>
                    <a:pt x="0" y="10277"/>
                    <a:pt x="10277" y="0"/>
                    <a:pt x="22954" y="0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19050"/>
              <a:ext cx="2131974" cy="222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293700" y="8325056"/>
            <a:ext cx="8094840" cy="770871"/>
            <a:chOff x="0" y="0"/>
            <a:chExt cx="2131974" cy="20302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131974" cy="203028"/>
            </a:xfrm>
            <a:custGeom>
              <a:avLst/>
              <a:gdLst/>
              <a:ahLst/>
              <a:cxnLst/>
              <a:rect r="r" b="b" t="t" l="l"/>
              <a:pathLst>
                <a:path h="203028" w="2131974">
                  <a:moveTo>
                    <a:pt x="22954" y="0"/>
                  </a:moveTo>
                  <a:lnTo>
                    <a:pt x="2109021" y="0"/>
                  </a:lnTo>
                  <a:cubicBezTo>
                    <a:pt x="2121698" y="0"/>
                    <a:pt x="2131974" y="10277"/>
                    <a:pt x="2131974" y="22954"/>
                  </a:cubicBezTo>
                  <a:lnTo>
                    <a:pt x="2131974" y="180074"/>
                  </a:lnTo>
                  <a:cubicBezTo>
                    <a:pt x="2131974" y="192751"/>
                    <a:pt x="2121698" y="203028"/>
                    <a:pt x="2109021" y="203028"/>
                  </a:cubicBezTo>
                  <a:lnTo>
                    <a:pt x="22954" y="203028"/>
                  </a:lnTo>
                  <a:cubicBezTo>
                    <a:pt x="10277" y="203028"/>
                    <a:pt x="0" y="192751"/>
                    <a:pt x="0" y="180074"/>
                  </a:cubicBezTo>
                  <a:lnTo>
                    <a:pt x="0" y="22954"/>
                  </a:lnTo>
                  <a:cubicBezTo>
                    <a:pt x="0" y="10277"/>
                    <a:pt x="10277" y="0"/>
                    <a:pt x="22954" y="0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9050"/>
              <a:ext cx="2131974" cy="222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271281" y="7406220"/>
            <a:ext cx="8094840" cy="770871"/>
            <a:chOff x="0" y="0"/>
            <a:chExt cx="2131974" cy="203028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131974" cy="203028"/>
            </a:xfrm>
            <a:custGeom>
              <a:avLst/>
              <a:gdLst/>
              <a:ahLst/>
              <a:cxnLst/>
              <a:rect r="r" b="b" t="t" l="l"/>
              <a:pathLst>
                <a:path h="203028" w="2131974">
                  <a:moveTo>
                    <a:pt x="22954" y="0"/>
                  </a:moveTo>
                  <a:lnTo>
                    <a:pt x="2109021" y="0"/>
                  </a:lnTo>
                  <a:cubicBezTo>
                    <a:pt x="2121698" y="0"/>
                    <a:pt x="2131974" y="10277"/>
                    <a:pt x="2131974" y="22954"/>
                  </a:cubicBezTo>
                  <a:lnTo>
                    <a:pt x="2131974" y="180074"/>
                  </a:lnTo>
                  <a:cubicBezTo>
                    <a:pt x="2131974" y="192751"/>
                    <a:pt x="2121698" y="203028"/>
                    <a:pt x="2109021" y="203028"/>
                  </a:cubicBezTo>
                  <a:lnTo>
                    <a:pt x="22954" y="203028"/>
                  </a:lnTo>
                  <a:cubicBezTo>
                    <a:pt x="10277" y="203028"/>
                    <a:pt x="0" y="192751"/>
                    <a:pt x="0" y="180074"/>
                  </a:cubicBezTo>
                  <a:lnTo>
                    <a:pt x="0" y="22954"/>
                  </a:lnTo>
                  <a:cubicBezTo>
                    <a:pt x="0" y="10277"/>
                    <a:pt x="10277" y="0"/>
                    <a:pt x="22954" y="0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19050"/>
              <a:ext cx="2131974" cy="222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Freeform 36" id="36"/>
          <p:cNvSpPr/>
          <p:nvPr/>
        </p:nvSpPr>
        <p:spPr>
          <a:xfrm flipH="false" flipV="false" rot="0">
            <a:off x="9392860" y="6835002"/>
            <a:ext cx="4857235" cy="2603824"/>
          </a:xfrm>
          <a:custGeom>
            <a:avLst/>
            <a:gdLst/>
            <a:ahLst/>
            <a:cxnLst/>
            <a:rect r="r" b="b" t="t" l="l"/>
            <a:pathLst>
              <a:path h="2603824" w="4857235">
                <a:moveTo>
                  <a:pt x="0" y="0"/>
                </a:moveTo>
                <a:lnTo>
                  <a:pt x="4857235" y="0"/>
                </a:lnTo>
                <a:lnTo>
                  <a:pt x="4857235" y="2603825"/>
                </a:lnTo>
                <a:lnTo>
                  <a:pt x="0" y="26038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539" t="-12445" r="0" b="-6174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12578475" y="3897477"/>
            <a:ext cx="5709525" cy="2802996"/>
          </a:xfrm>
          <a:custGeom>
            <a:avLst/>
            <a:gdLst/>
            <a:ahLst/>
            <a:cxnLst/>
            <a:rect r="r" b="b" t="t" l="l"/>
            <a:pathLst>
              <a:path h="2802996" w="5709525">
                <a:moveTo>
                  <a:pt x="0" y="0"/>
                </a:moveTo>
                <a:lnTo>
                  <a:pt x="5709525" y="0"/>
                </a:lnTo>
                <a:lnTo>
                  <a:pt x="5709525" y="2802996"/>
                </a:lnTo>
                <a:lnTo>
                  <a:pt x="0" y="280299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2760" r="-22671" b="-6872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9272241" y="1249101"/>
            <a:ext cx="4857235" cy="2575338"/>
          </a:xfrm>
          <a:custGeom>
            <a:avLst/>
            <a:gdLst/>
            <a:ahLst/>
            <a:cxnLst/>
            <a:rect r="r" b="b" t="t" l="l"/>
            <a:pathLst>
              <a:path h="2575338" w="4857235">
                <a:moveTo>
                  <a:pt x="0" y="0"/>
                </a:moveTo>
                <a:lnTo>
                  <a:pt x="4857235" y="0"/>
                </a:lnTo>
                <a:lnTo>
                  <a:pt x="4857235" y="2575338"/>
                </a:lnTo>
                <a:lnTo>
                  <a:pt x="0" y="257533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-18585"/>
            </a:stretch>
          </a:blipFill>
        </p:spPr>
      </p:sp>
      <p:sp>
        <p:nvSpPr>
          <p:cNvPr name="TextBox 39" id="39"/>
          <p:cNvSpPr txBox="true"/>
          <p:nvPr/>
        </p:nvSpPr>
        <p:spPr>
          <a:xfrm rot="0">
            <a:off x="1112227" y="1848710"/>
            <a:ext cx="7168405" cy="3590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20"/>
              </a:lnSpc>
            </a:pPr>
          </a:p>
          <a:p>
            <a:pPr algn="just">
              <a:lnSpc>
                <a:spcPts val="2620"/>
              </a:lnSpc>
            </a:pPr>
            <a:r>
              <a:rPr lang="en-US" sz="2183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Low-cost &amp; offline:</a:t>
            </a:r>
          </a:p>
          <a:p>
            <a:pPr algn="just" marL="471508" indent="-235754" lvl="1">
              <a:lnSpc>
                <a:spcPts val="2620"/>
              </a:lnSpc>
              <a:buFont typeface="Arial"/>
              <a:buChar char="•"/>
            </a:pPr>
            <a:r>
              <a:rPr lang="en-US" sz="218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Works without internet</a:t>
            </a:r>
          </a:p>
          <a:p>
            <a:pPr algn="just" marL="471508" indent="-235754" lvl="1">
              <a:lnSpc>
                <a:spcPts val="2620"/>
              </a:lnSpc>
              <a:buFont typeface="Arial"/>
              <a:buChar char="•"/>
            </a:pPr>
            <a:r>
              <a:rPr lang="en-US" sz="218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Uses affordable, readily available hardware</a:t>
            </a:r>
          </a:p>
          <a:p>
            <a:pPr algn="just">
              <a:lnSpc>
                <a:spcPts val="2620"/>
              </a:lnSpc>
            </a:pPr>
            <a:r>
              <a:rPr lang="en-US" sz="2183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Easy access &amp; monitoring:</a:t>
            </a:r>
          </a:p>
          <a:p>
            <a:pPr algn="just" marL="471508" indent="-235754" lvl="1">
              <a:lnSpc>
                <a:spcPts val="2620"/>
              </a:lnSpc>
              <a:buFont typeface="Arial"/>
              <a:buChar char="•"/>
            </a:pPr>
            <a:r>
              <a:rPr lang="en-US" sz="218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Logs stored on SD</a:t>
            </a:r>
            <a:r>
              <a:rPr lang="en-US" sz="218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card</a:t>
            </a:r>
          </a:p>
          <a:p>
            <a:pPr algn="just" marL="471508" indent="-235754" lvl="1">
              <a:lnSpc>
                <a:spcPts val="2620"/>
              </a:lnSpc>
              <a:buFont typeface="Arial"/>
              <a:buChar char="•"/>
            </a:pPr>
            <a:r>
              <a:rPr lang="en-US" sz="218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Enables farmers, industries, and KSEB to track usage</a:t>
            </a:r>
          </a:p>
          <a:p>
            <a:pPr algn="just">
              <a:lnSpc>
                <a:spcPts val="2620"/>
              </a:lnSpc>
              <a:spcBef>
                <a:spcPct val="0"/>
              </a:spcBef>
            </a:pPr>
            <a:r>
              <a:rPr lang="en-US" b="true" sz="2183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Rel</a:t>
            </a:r>
            <a:r>
              <a:rPr lang="en-US" b="true" sz="2183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iable &amp; scalable: </a:t>
            </a:r>
          </a:p>
          <a:p>
            <a:pPr algn="just" marL="471508" indent="-235754" lvl="1">
              <a:lnSpc>
                <a:spcPts val="2620"/>
              </a:lnSpc>
              <a:buFont typeface="Arial"/>
              <a:buChar char="•"/>
            </a:pPr>
            <a:r>
              <a:rPr lang="en-US" sz="218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Detects illegal taps and faults in real-time</a:t>
            </a:r>
          </a:p>
          <a:p>
            <a:pPr algn="just" marL="471508" indent="-235754" lvl="1">
              <a:lnSpc>
                <a:spcPts val="2620"/>
              </a:lnSpc>
              <a:buFont typeface="Arial"/>
              <a:buChar char="•"/>
            </a:pPr>
            <a:r>
              <a:rPr lang="en-US" sz="218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Suitable for all terrains</a:t>
            </a:r>
          </a:p>
          <a:p>
            <a:pPr algn="just" marL="439738" indent="-219869" lvl="1">
              <a:lnSpc>
                <a:spcPts val="2444"/>
              </a:lnSpc>
              <a:buFont typeface="Arial"/>
              <a:buChar char="•"/>
            </a:pPr>
            <a:r>
              <a:rPr lang="en-US" sz="203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Low power consumption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232446" y="1423545"/>
            <a:ext cx="6399257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39"/>
              </a:lnSpc>
              <a:spcBef>
                <a:spcPct val="0"/>
              </a:spcBef>
            </a:pPr>
            <a:r>
              <a:rPr lang="en-US" b="true" sz="2699" u="sng">
                <a:solidFill>
                  <a:srgbClr val="0097B2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b="true" sz="2699" u="sng">
                <a:solidFill>
                  <a:srgbClr val="0097B2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ANALYSIS </a:t>
            </a:r>
            <a:r>
              <a:rPr lang="en-US" b="true" sz="2699" u="sng">
                <a:solidFill>
                  <a:srgbClr val="0097B2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OF THE FEASIBILITY OF THE IDEA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596014" y="6510870"/>
            <a:ext cx="8525565" cy="70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  <a:spcBef>
                <a:spcPct val="0"/>
              </a:spcBef>
            </a:pPr>
            <a:r>
              <a:rPr lang="en-US" b="true" sz="23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Safety &amp; Reliability – </a:t>
            </a:r>
            <a:r>
              <a:rPr lang="en-US" sz="23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Is</a:t>
            </a:r>
            <a:r>
              <a:rPr lang="en-US" sz="23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olation, surge protection, and weatherproof enclosures ensure accuracy and durability.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734171" y="8372681"/>
            <a:ext cx="7654369" cy="1036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8"/>
              </a:lnSpc>
              <a:spcBef>
                <a:spcPct val="0"/>
              </a:spcBef>
            </a:pPr>
            <a:r>
              <a:rPr lang="en-US" b="true" sz="2273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Energy Efficiency – </a:t>
            </a:r>
            <a:r>
              <a:rPr lang="en-US" sz="2273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L</a:t>
            </a:r>
            <a:r>
              <a:rPr lang="en-US" sz="2273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ow-power MCU and sensors </a:t>
            </a:r>
          </a:p>
          <a:p>
            <a:pPr algn="l">
              <a:lnSpc>
                <a:spcPts val="2728"/>
              </a:lnSpc>
              <a:spcBef>
                <a:spcPct val="0"/>
              </a:spcBef>
            </a:pPr>
            <a:r>
              <a:rPr lang="en-US" sz="2273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optimized for solar/battery usage.</a:t>
            </a:r>
          </a:p>
          <a:p>
            <a:pPr algn="l">
              <a:lnSpc>
                <a:spcPts val="2728"/>
              </a:lnSpc>
              <a:spcBef>
                <a:spcPct val="0"/>
              </a:spcBef>
            </a:pPr>
          </a:p>
        </p:txBody>
      </p:sp>
      <p:sp>
        <p:nvSpPr>
          <p:cNvPr name="TextBox 43" id="43"/>
          <p:cNvSpPr txBox="true"/>
          <p:nvPr/>
        </p:nvSpPr>
        <p:spPr>
          <a:xfrm rot="0">
            <a:off x="596014" y="7429706"/>
            <a:ext cx="8525565" cy="70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  <a:spcBef>
                <a:spcPct val="0"/>
              </a:spcBef>
            </a:pPr>
            <a:r>
              <a:rPr lang="en-US" b="true" sz="23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Smart Alerts &amp; Logging</a:t>
            </a:r>
            <a:r>
              <a:rPr lang="en-US" sz="23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– Mu</a:t>
            </a:r>
            <a:r>
              <a:rPr lang="en-US" sz="23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lti-mode alerts with LEDs,</a:t>
            </a:r>
          </a:p>
          <a:p>
            <a:pPr algn="l">
              <a:lnSpc>
                <a:spcPts val="2760"/>
              </a:lnSpc>
              <a:spcBef>
                <a:spcPct val="0"/>
              </a:spcBef>
            </a:pPr>
            <a:r>
              <a:rPr lang="en-US" sz="23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buzzers, SMS, and SD card logging for easy use.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4324234" y="1920194"/>
            <a:ext cx="3243975" cy="110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4"/>
              </a:lnSpc>
            </a:pPr>
            <a:r>
              <a:rPr lang="en-US" b="true" sz="2328" u="sng">
                <a:solidFill>
                  <a:srgbClr val="19191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SERIAL COMMUNICATION</a:t>
            </a:r>
          </a:p>
          <a:p>
            <a:pPr algn="ctr">
              <a:lnSpc>
                <a:spcPts val="2794"/>
              </a:lnSpc>
              <a:spcBef>
                <a:spcPct val="0"/>
              </a:spcBef>
            </a:pPr>
            <a:r>
              <a:rPr lang="en-US" b="true" sz="2328" u="sng">
                <a:solidFill>
                  <a:srgbClr val="19191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TEST SUCCESSFULL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9144000" y="4809401"/>
            <a:ext cx="3243975" cy="754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4"/>
              </a:lnSpc>
            </a:pPr>
            <a:r>
              <a:rPr lang="en-US" b="true" sz="2328" u="sng">
                <a:solidFill>
                  <a:srgbClr val="19191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BRAIN COMPARATOR</a:t>
            </a:r>
          </a:p>
          <a:p>
            <a:pPr algn="ctr">
              <a:lnSpc>
                <a:spcPts val="2794"/>
              </a:lnSpc>
              <a:spcBef>
                <a:spcPct val="0"/>
              </a:spcBef>
            </a:pPr>
            <a:r>
              <a:rPr lang="en-US" b="true" sz="2328" u="sng">
                <a:solidFill>
                  <a:srgbClr val="19191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TEST SUCCESSFULL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4497745" y="7793152"/>
            <a:ext cx="3243975" cy="110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4"/>
              </a:lnSpc>
            </a:pPr>
            <a:r>
              <a:rPr lang="en-US" b="true" sz="2328" u="sng">
                <a:solidFill>
                  <a:srgbClr val="19191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FENCE LINE CURRENT VOLTAGE </a:t>
            </a:r>
          </a:p>
          <a:p>
            <a:pPr algn="ctr">
              <a:lnSpc>
                <a:spcPts val="2794"/>
              </a:lnSpc>
              <a:spcBef>
                <a:spcPct val="0"/>
              </a:spcBef>
            </a:pPr>
            <a:r>
              <a:rPr lang="en-US" b="true" sz="2328" u="sng">
                <a:solidFill>
                  <a:srgbClr val="19191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TEST SUCCESSFULL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3"/>
            <a:ext cx="18287998" cy="754857"/>
            <a:chOff x="0" y="0"/>
            <a:chExt cx="24383998" cy="10064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73596" y="-87032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104775"/>
              <a:ext cx="21945600" cy="2390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IMPACT AND BENEFITS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30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5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740999" y="9635728"/>
            <a:ext cx="4806000" cy="547688"/>
            <a:chOff x="0" y="0"/>
            <a:chExt cx="6408000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64080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Quantum Leap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475610" y="359319"/>
            <a:ext cx="1915886" cy="1249101"/>
            <a:chOff x="0" y="0"/>
            <a:chExt cx="2554514" cy="1665468"/>
          </a:xfrm>
        </p:grpSpPr>
        <p:sp>
          <p:nvSpPr>
            <p:cNvPr name="Freeform 14" id="14" descr="Your startup LOGO"/>
            <p:cNvSpPr/>
            <p:nvPr/>
          </p:nvSpPr>
          <p:spPr>
            <a:xfrm flipH="false" flipV="false" rot="0">
              <a:off x="25400" y="25400"/>
              <a:ext cx="2503678" cy="1614678"/>
            </a:xfrm>
            <a:custGeom>
              <a:avLst/>
              <a:gdLst/>
              <a:ahLst/>
              <a:cxnLst/>
              <a:rect r="r" b="b" t="t" l="l"/>
              <a:pathLst>
                <a:path h="1614678" w="2503678">
                  <a:moveTo>
                    <a:pt x="0" y="807339"/>
                  </a:moveTo>
                  <a:cubicBezTo>
                    <a:pt x="0" y="361442"/>
                    <a:pt x="560451" y="0"/>
                    <a:pt x="1251839" y="0"/>
                  </a:cubicBezTo>
                  <a:cubicBezTo>
                    <a:pt x="1943227" y="0"/>
                    <a:pt x="2503678" y="361442"/>
                    <a:pt x="2503678" y="807339"/>
                  </a:cubicBezTo>
                  <a:cubicBezTo>
                    <a:pt x="2503678" y="1253236"/>
                    <a:pt x="1943227" y="1614678"/>
                    <a:pt x="1251839" y="1614678"/>
                  </a:cubicBezTo>
                  <a:cubicBezTo>
                    <a:pt x="560451" y="1614678"/>
                    <a:pt x="0" y="1253236"/>
                    <a:pt x="0" y="807339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5" id="15" descr="Your startup LOGO"/>
            <p:cNvSpPr/>
            <p:nvPr/>
          </p:nvSpPr>
          <p:spPr>
            <a:xfrm flipH="false" flipV="false" rot="0">
              <a:off x="0" y="0"/>
              <a:ext cx="2554478" cy="1665478"/>
            </a:xfrm>
            <a:custGeom>
              <a:avLst/>
              <a:gdLst/>
              <a:ahLst/>
              <a:cxnLst/>
              <a:rect r="r" b="b" t="t" l="l"/>
              <a:pathLst>
                <a:path h="1665478" w="2554478">
                  <a:moveTo>
                    <a:pt x="0" y="832739"/>
                  </a:moveTo>
                  <a:cubicBezTo>
                    <a:pt x="0" y="363855"/>
                    <a:pt x="583057" y="0"/>
                    <a:pt x="1277239" y="0"/>
                  </a:cubicBezTo>
                  <a:cubicBezTo>
                    <a:pt x="1971421" y="0"/>
                    <a:pt x="2554478" y="363855"/>
                    <a:pt x="2554478" y="832739"/>
                  </a:cubicBezTo>
                  <a:lnTo>
                    <a:pt x="2529078" y="832739"/>
                  </a:lnTo>
                  <a:lnTo>
                    <a:pt x="2554478" y="832739"/>
                  </a:lnTo>
                  <a:cubicBezTo>
                    <a:pt x="2554478" y="1301623"/>
                    <a:pt x="1971421" y="1665478"/>
                    <a:pt x="1277239" y="1665478"/>
                  </a:cubicBezTo>
                  <a:lnTo>
                    <a:pt x="1277239" y="1640078"/>
                  </a:lnTo>
                  <a:lnTo>
                    <a:pt x="1277239" y="1665478"/>
                  </a:lnTo>
                  <a:cubicBezTo>
                    <a:pt x="583057" y="1665478"/>
                    <a:pt x="0" y="1301623"/>
                    <a:pt x="0" y="832739"/>
                  </a:cubicBezTo>
                  <a:lnTo>
                    <a:pt x="25400" y="832739"/>
                  </a:lnTo>
                  <a:lnTo>
                    <a:pt x="50800" y="832739"/>
                  </a:lnTo>
                  <a:lnTo>
                    <a:pt x="25400" y="832739"/>
                  </a:lnTo>
                  <a:lnTo>
                    <a:pt x="0" y="832739"/>
                  </a:lnTo>
                  <a:moveTo>
                    <a:pt x="50800" y="832739"/>
                  </a:moveTo>
                  <a:cubicBezTo>
                    <a:pt x="50800" y="846709"/>
                    <a:pt x="39370" y="858139"/>
                    <a:pt x="25400" y="858139"/>
                  </a:cubicBezTo>
                  <a:cubicBezTo>
                    <a:pt x="11430" y="858139"/>
                    <a:pt x="0" y="846709"/>
                    <a:pt x="0" y="832739"/>
                  </a:cubicBezTo>
                  <a:cubicBezTo>
                    <a:pt x="0" y="818769"/>
                    <a:pt x="11430" y="807339"/>
                    <a:pt x="25400" y="807339"/>
                  </a:cubicBezTo>
                  <a:cubicBezTo>
                    <a:pt x="39370" y="807339"/>
                    <a:pt x="50800" y="818769"/>
                    <a:pt x="50800" y="832739"/>
                  </a:cubicBezTo>
                  <a:cubicBezTo>
                    <a:pt x="50800" y="1255522"/>
                    <a:pt x="588772" y="1614678"/>
                    <a:pt x="1277239" y="1614678"/>
                  </a:cubicBezTo>
                  <a:cubicBezTo>
                    <a:pt x="1965706" y="1614678"/>
                    <a:pt x="2503678" y="1255522"/>
                    <a:pt x="2503678" y="832739"/>
                  </a:cubicBezTo>
                  <a:cubicBezTo>
                    <a:pt x="2503678" y="409956"/>
                    <a:pt x="1965833" y="50800"/>
                    <a:pt x="1277239" y="50800"/>
                  </a:cubicBezTo>
                  <a:lnTo>
                    <a:pt x="1277239" y="25400"/>
                  </a:lnTo>
                  <a:lnTo>
                    <a:pt x="1277239" y="50800"/>
                  </a:lnTo>
                  <a:cubicBezTo>
                    <a:pt x="588772" y="50800"/>
                    <a:pt x="50800" y="409956"/>
                    <a:pt x="50800" y="832739"/>
                  </a:cubicBezTo>
                  <a:close/>
                </a:path>
              </a:pathLst>
            </a:custGeom>
            <a:solidFill>
              <a:srgbClr val="8064A2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2554514" cy="17226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Quantum Leap</a:t>
              </a:r>
            </a:p>
          </p:txBody>
        </p:sp>
      </p:grpSp>
      <p:grpSp>
        <p:nvGrpSpPr>
          <p:cNvPr name="Group 17" id="17"/>
          <p:cNvGrpSpPr>
            <a:grpSpLocks noChangeAspect="true"/>
          </p:cNvGrpSpPr>
          <p:nvPr/>
        </p:nvGrpSpPr>
        <p:grpSpPr>
          <a:xfrm rot="0">
            <a:off x="14762049" y="-194115"/>
            <a:ext cx="3313680" cy="1684302"/>
            <a:chOff x="0" y="0"/>
            <a:chExt cx="4418240" cy="2245736"/>
          </a:xfrm>
        </p:grpSpPr>
        <p:sp>
          <p:nvSpPr>
            <p:cNvPr name="Freeform 18" id="18" descr="https://www.sih.gov.in/img1/SIH-Logo.png"/>
            <p:cNvSpPr/>
            <p:nvPr/>
          </p:nvSpPr>
          <p:spPr>
            <a:xfrm flipH="false" flipV="false" rot="0">
              <a:off x="0" y="0"/>
              <a:ext cx="4418203" cy="2245741"/>
            </a:xfrm>
            <a:custGeom>
              <a:avLst/>
              <a:gdLst/>
              <a:ahLst/>
              <a:cxnLst/>
              <a:rect r="r" b="b" t="t" l="l"/>
              <a:pathLst>
                <a:path h="2245741" w="4418203">
                  <a:moveTo>
                    <a:pt x="0" y="0"/>
                  </a:moveTo>
                  <a:lnTo>
                    <a:pt x="4418203" y="0"/>
                  </a:lnTo>
                  <a:lnTo>
                    <a:pt x="4418203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04490" y="1913501"/>
            <a:ext cx="9754261" cy="2590205"/>
            <a:chOff x="0" y="0"/>
            <a:chExt cx="1936088" cy="5141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936088" cy="514120"/>
            </a:xfrm>
            <a:custGeom>
              <a:avLst/>
              <a:gdLst/>
              <a:ahLst/>
              <a:cxnLst/>
              <a:rect r="r" b="b" t="t" l="l"/>
              <a:pathLst>
                <a:path h="514120" w="1936088">
                  <a:moveTo>
                    <a:pt x="40479" y="0"/>
                  </a:moveTo>
                  <a:lnTo>
                    <a:pt x="1895609" y="0"/>
                  </a:lnTo>
                  <a:cubicBezTo>
                    <a:pt x="1906345" y="0"/>
                    <a:pt x="1916641" y="4265"/>
                    <a:pt x="1924232" y="11856"/>
                  </a:cubicBezTo>
                  <a:cubicBezTo>
                    <a:pt x="1931823" y="19447"/>
                    <a:pt x="1936088" y="29743"/>
                    <a:pt x="1936088" y="40479"/>
                  </a:cubicBezTo>
                  <a:lnTo>
                    <a:pt x="1936088" y="473642"/>
                  </a:lnTo>
                  <a:cubicBezTo>
                    <a:pt x="1936088" y="495998"/>
                    <a:pt x="1917965" y="514120"/>
                    <a:pt x="1895609" y="514120"/>
                  </a:cubicBezTo>
                  <a:lnTo>
                    <a:pt x="40479" y="514120"/>
                  </a:lnTo>
                  <a:cubicBezTo>
                    <a:pt x="29743" y="514120"/>
                    <a:pt x="19447" y="509856"/>
                    <a:pt x="11856" y="502264"/>
                  </a:cubicBezTo>
                  <a:cubicBezTo>
                    <a:pt x="4265" y="494673"/>
                    <a:pt x="0" y="484377"/>
                    <a:pt x="0" y="473642"/>
                  </a:cubicBezTo>
                  <a:lnTo>
                    <a:pt x="0" y="40479"/>
                  </a:lnTo>
                  <a:cubicBezTo>
                    <a:pt x="0" y="29743"/>
                    <a:pt x="4265" y="19447"/>
                    <a:pt x="11856" y="11856"/>
                  </a:cubicBezTo>
                  <a:cubicBezTo>
                    <a:pt x="19447" y="4265"/>
                    <a:pt x="29743" y="0"/>
                    <a:pt x="40479" y="0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1936088" cy="5331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10439755" y="1643062"/>
            <a:ext cx="7322323" cy="5744929"/>
          </a:xfrm>
          <a:custGeom>
            <a:avLst/>
            <a:gdLst/>
            <a:ahLst/>
            <a:cxnLst/>
            <a:rect r="r" b="b" t="t" l="l"/>
            <a:pathLst>
              <a:path h="5744929" w="7322323">
                <a:moveTo>
                  <a:pt x="0" y="0"/>
                </a:moveTo>
                <a:lnTo>
                  <a:pt x="7322323" y="0"/>
                </a:lnTo>
                <a:lnTo>
                  <a:pt x="7322323" y="5744929"/>
                </a:lnTo>
                <a:lnTo>
                  <a:pt x="0" y="574492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1523" t="-36224" r="-4970" b="-12255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346208" y="4656080"/>
            <a:ext cx="7730408" cy="4602220"/>
          </a:xfrm>
          <a:custGeom>
            <a:avLst/>
            <a:gdLst/>
            <a:ahLst/>
            <a:cxnLst/>
            <a:rect r="r" b="b" t="t" l="l"/>
            <a:pathLst>
              <a:path h="4602220" w="7730408">
                <a:moveTo>
                  <a:pt x="0" y="0"/>
                </a:moveTo>
                <a:lnTo>
                  <a:pt x="7730408" y="0"/>
                </a:lnTo>
                <a:lnTo>
                  <a:pt x="7730408" y="4602220"/>
                </a:lnTo>
                <a:lnTo>
                  <a:pt x="0" y="46022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427" t="-1440" r="0" b="-993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03472" y="2151833"/>
            <a:ext cx="9635616" cy="2400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1" indent="-280670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</a:t>
            </a:r>
            <a:r>
              <a:rPr lang="en-US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otects both humans and animals from potential harm.</a:t>
            </a:r>
          </a:p>
          <a:p>
            <a:pPr algn="l">
              <a:lnSpc>
                <a:spcPts val="3120"/>
              </a:lnSpc>
            </a:pPr>
          </a:p>
          <a:p>
            <a:pPr algn="l" marL="561341" indent="-280670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Identifies faults early, reducing maintenance needs.</a:t>
            </a:r>
          </a:p>
          <a:p>
            <a:pPr algn="l">
              <a:lnSpc>
                <a:spcPts val="3120"/>
              </a:lnSpc>
            </a:pPr>
          </a:p>
          <a:p>
            <a:pPr algn="l" marL="561341" indent="-280670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Detects power tapping to enhance security and prevent theft.</a:t>
            </a:r>
          </a:p>
          <a:p>
            <a:pPr algn="l">
              <a:lnSpc>
                <a:spcPts val="3120"/>
              </a:lnSpc>
            </a:pPr>
          </a:p>
        </p:txBody>
      </p:sp>
      <p:grpSp>
        <p:nvGrpSpPr>
          <p:cNvPr name="Group 25" id="25"/>
          <p:cNvGrpSpPr/>
          <p:nvPr/>
        </p:nvGrpSpPr>
        <p:grpSpPr>
          <a:xfrm rot="0">
            <a:off x="8639287" y="7633087"/>
            <a:ext cx="9461558" cy="1598593"/>
            <a:chOff x="0" y="0"/>
            <a:chExt cx="1877990" cy="317299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877990" cy="317299"/>
            </a:xfrm>
            <a:custGeom>
              <a:avLst/>
              <a:gdLst/>
              <a:ahLst/>
              <a:cxnLst/>
              <a:rect r="r" b="b" t="t" l="l"/>
              <a:pathLst>
                <a:path h="317299" w="1877990">
                  <a:moveTo>
                    <a:pt x="41731" y="0"/>
                  </a:moveTo>
                  <a:lnTo>
                    <a:pt x="1836259" y="0"/>
                  </a:lnTo>
                  <a:cubicBezTo>
                    <a:pt x="1859307" y="0"/>
                    <a:pt x="1877990" y="18683"/>
                    <a:pt x="1877990" y="41731"/>
                  </a:cubicBezTo>
                  <a:lnTo>
                    <a:pt x="1877990" y="275568"/>
                  </a:lnTo>
                  <a:cubicBezTo>
                    <a:pt x="1877990" y="298615"/>
                    <a:pt x="1859307" y="317299"/>
                    <a:pt x="1836259" y="317299"/>
                  </a:cubicBezTo>
                  <a:lnTo>
                    <a:pt x="41731" y="317299"/>
                  </a:lnTo>
                  <a:cubicBezTo>
                    <a:pt x="18683" y="317299"/>
                    <a:pt x="0" y="298615"/>
                    <a:pt x="0" y="275568"/>
                  </a:cubicBezTo>
                  <a:lnTo>
                    <a:pt x="0" y="41731"/>
                  </a:lnTo>
                  <a:cubicBezTo>
                    <a:pt x="0" y="18683"/>
                    <a:pt x="18683" y="0"/>
                    <a:pt x="41731" y="0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19050"/>
              <a:ext cx="1877990" cy="3363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8652384" y="7774221"/>
            <a:ext cx="9635616" cy="2009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1" indent="-280670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Impr</a:t>
            </a:r>
            <a:r>
              <a:rPr lang="en-US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oves safety by reducing risks and minimizing waste.</a:t>
            </a:r>
          </a:p>
          <a:p>
            <a:pPr algn="l">
              <a:lnSpc>
                <a:spcPts val="3120"/>
              </a:lnSpc>
            </a:pPr>
          </a:p>
          <a:p>
            <a:pPr algn="l" marL="561341" indent="-280670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Promotes energy savings and supports long-term sustainability.</a:t>
            </a:r>
          </a:p>
          <a:p>
            <a:pPr algn="l">
              <a:lnSpc>
                <a:spcPts val="3120"/>
              </a:lnSpc>
            </a:pPr>
          </a:p>
          <a:p>
            <a:pPr algn="l">
              <a:lnSpc>
                <a:spcPts val="3120"/>
              </a:lnSpc>
            </a:pPr>
          </a:p>
        </p:txBody>
      </p:sp>
      <p:sp>
        <p:nvSpPr>
          <p:cNvPr name="AutoShape 29" id="29"/>
          <p:cNvSpPr/>
          <p:nvPr/>
        </p:nvSpPr>
        <p:spPr>
          <a:xfrm flipV="true">
            <a:off x="163489" y="1932758"/>
            <a:ext cx="9695224" cy="19050"/>
          </a:xfrm>
          <a:prstGeom prst="line">
            <a:avLst/>
          </a:prstGeom>
          <a:ln cap="flat" w="38100">
            <a:solidFill>
              <a:srgbClr val="000000">
                <a:alpha val="4078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0" id="30"/>
          <p:cNvSpPr/>
          <p:nvPr/>
        </p:nvSpPr>
        <p:spPr>
          <a:xfrm flipV="true">
            <a:off x="156130" y="4465579"/>
            <a:ext cx="9695224" cy="19050"/>
          </a:xfrm>
          <a:prstGeom prst="line">
            <a:avLst/>
          </a:prstGeom>
          <a:ln cap="flat" w="38100">
            <a:solidFill>
              <a:srgbClr val="000000">
                <a:alpha val="4078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1" id="31"/>
          <p:cNvSpPr/>
          <p:nvPr/>
        </p:nvSpPr>
        <p:spPr>
          <a:xfrm flipH="true">
            <a:off x="8671434" y="7633087"/>
            <a:ext cx="0" cy="1548414"/>
          </a:xfrm>
          <a:prstGeom prst="line">
            <a:avLst/>
          </a:prstGeom>
          <a:ln cap="flat" w="38100">
            <a:solidFill>
              <a:srgbClr val="000000">
                <a:alpha val="4078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2" id="32"/>
          <p:cNvSpPr/>
          <p:nvPr/>
        </p:nvSpPr>
        <p:spPr>
          <a:xfrm>
            <a:off x="123540" y="1951808"/>
            <a:ext cx="0" cy="2557129"/>
          </a:xfrm>
          <a:prstGeom prst="line">
            <a:avLst/>
          </a:prstGeom>
          <a:ln cap="flat" w="38100">
            <a:solidFill>
              <a:srgbClr val="000000">
                <a:alpha val="4078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3" id="33"/>
          <p:cNvSpPr/>
          <p:nvPr/>
        </p:nvSpPr>
        <p:spPr>
          <a:xfrm>
            <a:off x="9839701" y="1908451"/>
            <a:ext cx="0" cy="2557129"/>
          </a:xfrm>
          <a:prstGeom prst="line">
            <a:avLst/>
          </a:prstGeom>
          <a:ln cap="flat" w="38100">
            <a:solidFill>
              <a:srgbClr val="000000">
                <a:alpha val="4078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4" id="34"/>
          <p:cNvSpPr/>
          <p:nvPr/>
        </p:nvSpPr>
        <p:spPr>
          <a:xfrm>
            <a:off x="18117591" y="7683266"/>
            <a:ext cx="0" cy="1548414"/>
          </a:xfrm>
          <a:prstGeom prst="line">
            <a:avLst/>
          </a:prstGeom>
          <a:ln cap="flat" w="38100">
            <a:solidFill>
              <a:srgbClr val="000000">
                <a:alpha val="4078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5" id="35"/>
          <p:cNvSpPr/>
          <p:nvPr/>
        </p:nvSpPr>
        <p:spPr>
          <a:xfrm>
            <a:off x="8639325" y="7645166"/>
            <a:ext cx="9497315" cy="19050"/>
          </a:xfrm>
          <a:prstGeom prst="line">
            <a:avLst/>
          </a:prstGeom>
          <a:ln cap="flat" w="38100">
            <a:solidFill>
              <a:srgbClr val="000000">
                <a:alpha val="4078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6" id="36"/>
          <p:cNvSpPr/>
          <p:nvPr/>
        </p:nvSpPr>
        <p:spPr>
          <a:xfrm>
            <a:off x="8671473" y="9171977"/>
            <a:ext cx="9497315" cy="19050"/>
          </a:xfrm>
          <a:prstGeom prst="line">
            <a:avLst/>
          </a:prstGeom>
          <a:ln cap="flat" w="38100">
            <a:solidFill>
              <a:srgbClr val="000000">
                <a:alpha val="40784"/>
              </a:srgbClr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3"/>
            <a:ext cx="18287998" cy="754857"/>
            <a:chOff x="0" y="0"/>
            <a:chExt cx="24383998" cy="10064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104775"/>
              <a:ext cx="21945600" cy="2390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RESEARCH  AND REFERENCES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30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6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740999" y="9635728"/>
            <a:ext cx="4806000" cy="547688"/>
            <a:chOff x="0" y="0"/>
            <a:chExt cx="6408000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64080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Quantum Leap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475610" y="359319"/>
            <a:ext cx="1915886" cy="1249101"/>
            <a:chOff x="0" y="0"/>
            <a:chExt cx="2554514" cy="1665468"/>
          </a:xfrm>
        </p:grpSpPr>
        <p:sp>
          <p:nvSpPr>
            <p:cNvPr name="Freeform 14" id="14" descr="Your startup LOGO"/>
            <p:cNvSpPr/>
            <p:nvPr/>
          </p:nvSpPr>
          <p:spPr>
            <a:xfrm flipH="false" flipV="false" rot="0">
              <a:off x="25400" y="25400"/>
              <a:ext cx="2503678" cy="1614678"/>
            </a:xfrm>
            <a:custGeom>
              <a:avLst/>
              <a:gdLst/>
              <a:ahLst/>
              <a:cxnLst/>
              <a:rect r="r" b="b" t="t" l="l"/>
              <a:pathLst>
                <a:path h="1614678" w="2503678">
                  <a:moveTo>
                    <a:pt x="0" y="807339"/>
                  </a:moveTo>
                  <a:cubicBezTo>
                    <a:pt x="0" y="361442"/>
                    <a:pt x="560451" y="0"/>
                    <a:pt x="1251839" y="0"/>
                  </a:cubicBezTo>
                  <a:cubicBezTo>
                    <a:pt x="1943227" y="0"/>
                    <a:pt x="2503678" y="361442"/>
                    <a:pt x="2503678" y="807339"/>
                  </a:cubicBezTo>
                  <a:cubicBezTo>
                    <a:pt x="2503678" y="1253236"/>
                    <a:pt x="1943227" y="1614678"/>
                    <a:pt x="1251839" y="1614678"/>
                  </a:cubicBezTo>
                  <a:cubicBezTo>
                    <a:pt x="560451" y="1614678"/>
                    <a:pt x="0" y="1253236"/>
                    <a:pt x="0" y="807339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5" id="15" descr="Your startup LOGO"/>
            <p:cNvSpPr/>
            <p:nvPr/>
          </p:nvSpPr>
          <p:spPr>
            <a:xfrm flipH="false" flipV="false" rot="0">
              <a:off x="0" y="0"/>
              <a:ext cx="2554478" cy="1665478"/>
            </a:xfrm>
            <a:custGeom>
              <a:avLst/>
              <a:gdLst/>
              <a:ahLst/>
              <a:cxnLst/>
              <a:rect r="r" b="b" t="t" l="l"/>
              <a:pathLst>
                <a:path h="1665478" w="2554478">
                  <a:moveTo>
                    <a:pt x="0" y="832739"/>
                  </a:moveTo>
                  <a:cubicBezTo>
                    <a:pt x="0" y="363855"/>
                    <a:pt x="583057" y="0"/>
                    <a:pt x="1277239" y="0"/>
                  </a:cubicBezTo>
                  <a:cubicBezTo>
                    <a:pt x="1971421" y="0"/>
                    <a:pt x="2554478" y="363855"/>
                    <a:pt x="2554478" y="832739"/>
                  </a:cubicBezTo>
                  <a:lnTo>
                    <a:pt x="2529078" y="832739"/>
                  </a:lnTo>
                  <a:lnTo>
                    <a:pt x="2554478" y="832739"/>
                  </a:lnTo>
                  <a:cubicBezTo>
                    <a:pt x="2554478" y="1301623"/>
                    <a:pt x="1971421" y="1665478"/>
                    <a:pt x="1277239" y="1665478"/>
                  </a:cubicBezTo>
                  <a:lnTo>
                    <a:pt x="1277239" y="1640078"/>
                  </a:lnTo>
                  <a:lnTo>
                    <a:pt x="1277239" y="1665478"/>
                  </a:lnTo>
                  <a:cubicBezTo>
                    <a:pt x="583057" y="1665478"/>
                    <a:pt x="0" y="1301623"/>
                    <a:pt x="0" y="832739"/>
                  </a:cubicBezTo>
                  <a:lnTo>
                    <a:pt x="25400" y="832739"/>
                  </a:lnTo>
                  <a:lnTo>
                    <a:pt x="50800" y="832739"/>
                  </a:lnTo>
                  <a:lnTo>
                    <a:pt x="25400" y="832739"/>
                  </a:lnTo>
                  <a:lnTo>
                    <a:pt x="0" y="832739"/>
                  </a:lnTo>
                  <a:moveTo>
                    <a:pt x="50800" y="832739"/>
                  </a:moveTo>
                  <a:cubicBezTo>
                    <a:pt x="50800" y="846709"/>
                    <a:pt x="39370" y="858139"/>
                    <a:pt x="25400" y="858139"/>
                  </a:cubicBezTo>
                  <a:cubicBezTo>
                    <a:pt x="11430" y="858139"/>
                    <a:pt x="0" y="846709"/>
                    <a:pt x="0" y="832739"/>
                  </a:cubicBezTo>
                  <a:cubicBezTo>
                    <a:pt x="0" y="818769"/>
                    <a:pt x="11430" y="807339"/>
                    <a:pt x="25400" y="807339"/>
                  </a:cubicBezTo>
                  <a:cubicBezTo>
                    <a:pt x="39370" y="807339"/>
                    <a:pt x="50800" y="818769"/>
                    <a:pt x="50800" y="832739"/>
                  </a:cubicBezTo>
                  <a:cubicBezTo>
                    <a:pt x="50800" y="1255522"/>
                    <a:pt x="588772" y="1614678"/>
                    <a:pt x="1277239" y="1614678"/>
                  </a:cubicBezTo>
                  <a:cubicBezTo>
                    <a:pt x="1965706" y="1614678"/>
                    <a:pt x="2503678" y="1255522"/>
                    <a:pt x="2503678" y="832739"/>
                  </a:cubicBezTo>
                  <a:cubicBezTo>
                    <a:pt x="2503678" y="409956"/>
                    <a:pt x="1965833" y="50800"/>
                    <a:pt x="1277239" y="50800"/>
                  </a:cubicBezTo>
                  <a:lnTo>
                    <a:pt x="1277239" y="25400"/>
                  </a:lnTo>
                  <a:lnTo>
                    <a:pt x="1277239" y="50800"/>
                  </a:lnTo>
                  <a:cubicBezTo>
                    <a:pt x="588772" y="50800"/>
                    <a:pt x="50800" y="409956"/>
                    <a:pt x="50800" y="832739"/>
                  </a:cubicBezTo>
                  <a:close/>
                </a:path>
              </a:pathLst>
            </a:custGeom>
            <a:solidFill>
              <a:srgbClr val="8064A2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2554514" cy="17226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Quantum Leap</a:t>
              </a:r>
            </a:p>
          </p:txBody>
        </p:sp>
      </p:grpSp>
      <p:grpSp>
        <p:nvGrpSpPr>
          <p:cNvPr name="Group 17" id="17"/>
          <p:cNvGrpSpPr>
            <a:grpSpLocks noChangeAspect="true"/>
          </p:cNvGrpSpPr>
          <p:nvPr/>
        </p:nvGrpSpPr>
        <p:grpSpPr>
          <a:xfrm rot="0">
            <a:off x="14762049" y="85645"/>
            <a:ext cx="3313680" cy="1684302"/>
            <a:chOff x="0" y="0"/>
            <a:chExt cx="4418240" cy="2245736"/>
          </a:xfrm>
        </p:grpSpPr>
        <p:sp>
          <p:nvSpPr>
            <p:cNvPr name="Freeform 18" id="18" descr="https://www.sih.gov.in/img1/SIH-Logo.png"/>
            <p:cNvSpPr/>
            <p:nvPr/>
          </p:nvSpPr>
          <p:spPr>
            <a:xfrm flipH="false" flipV="false" rot="0">
              <a:off x="0" y="0"/>
              <a:ext cx="4418203" cy="2245741"/>
            </a:xfrm>
            <a:custGeom>
              <a:avLst/>
              <a:gdLst/>
              <a:ahLst/>
              <a:cxnLst/>
              <a:rect r="r" b="b" t="t" l="l"/>
              <a:pathLst>
                <a:path h="2245741" w="4418203">
                  <a:moveTo>
                    <a:pt x="0" y="0"/>
                  </a:moveTo>
                  <a:lnTo>
                    <a:pt x="4418203" y="0"/>
                  </a:lnTo>
                  <a:lnTo>
                    <a:pt x="4418203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aphicFrame>
        <p:nvGraphicFramePr>
          <p:cNvPr name="Table 19" id="19"/>
          <p:cNvGraphicFramePr>
            <a:graphicFrameLocks noGrp="true"/>
          </p:cNvGraphicFramePr>
          <p:nvPr/>
        </p:nvGraphicFramePr>
        <p:xfrm>
          <a:off x="475610" y="1769948"/>
          <a:ext cx="5916506" cy="7172325"/>
        </p:xfrm>
        <a:graphic>
          <a:graphicData uri="http://schemas.openxmlformats.org/drawingml/2006/table">
            <a:tbl>
              <a:tblPr/>
              <a:tblGrid>
                <a:gridCol w="2964463"/>
                <a:gridCol w="1795532"/>
              </a:tblGrid>
              <a:tr h="79479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</a:tr>
              <a:tr h="102461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 b="true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Muthu P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059"/>
                        </a:lnSpc>
                        <a:defRPr/>
                      </a:pPr>
                      <a:r>
                        <a:rPr lang="en-US" sz="2899" b="true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ECE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461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 b="true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Anushalakshmi 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059"/>
                        </a:lnSpc>
                        <a:defRPr/>
                      </a:pPr>
                      <a:r>
                        <a:rPr lang="en-US" sz="2899" b="true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AI &amp; DS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7249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059"/>
                        </a:lnSpc>
                        <a:defRPr/>
                      </a:pPr>
                      <a:r>
                        <a:rPr lang="en-US" sz="2899" b="true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Jaisurya 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479"/>
                        </a:lnSpc>
                        <a:defRPr/>
                      </a:pPr>
                      <a:r>
                        <a:rPr lang="en-US" sz="3199" b="true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ECE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5334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 b="true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Lavanya 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339"/>
                        </a:lnSpc>
                        <a:defRPr/>
                      </a:pPr>
                      <a:r>
                        <a:rPr lang="en-US" sz="3099" b="true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AI &amp; DS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0122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699" b="true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Nithish kumar 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619"/>
                        </a:lnSpc>
                        <a:defRPr/>
                      </a:pPr>
                      <a:r>
                        <a:rPr lang="en-US" sz="3299" b="true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ECE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0122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 b="true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Naga Adithyaa G 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619"/>
                        </a:lnSpc>
                        <a:defRPr/>
                      </a:pPr>
                      <a:r>
                        <a:rPr lang="en-US" sz="3299" b="true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ECE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Freeform 20" id="20"/>
          <p:cNvSpPr/>
          <p:nvPr/>
        </p:nvSpPr>
        <p:spPr>
          <a:xfrm flipH="false" flipV="false" rot="0">
            <a:off x="11743819" y="1896832"/>
            <a:ext cx="529077" cy="525870"/>
          </a:xfrm>
          <a:custGeom>
            <a:avLst/>
            <a:gdLst/>
            <a:ahLst/>
            <a:cxnLst/>
            <a:rect r="r" b="b" t="t" l="l"/>
            <a:pathLst>
              <a:path h="525870" w="529077">
                <a:moveTo>
                  <a:pt x="0" y="0"/>
                </a:moveTo>
                <a:lnTo>
                  <a:pt x="529077" y="0"/>
                </a:lnTo>
                <a:lnTo>
                  <a:pt x="529077" y="525871"/>
                </a:lnTo>
                <a:lnTo>
                  <a:pt x="0" y="5258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030497" y="1887307"/>
            <a:ext cx="1487063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84"/>
              </a:lnSpc>
              <a:spcBef>
                <a:spcPct val="0"/>
              </a:spcBef>
            </a:pPr>
            <a:r>
              <a:rPr lang="en-US" b="true" sz="332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NAME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041591" y="1887307"/>
            <a:ext cx="1487063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84"/>
              </a:lnSpc>
              <a:spcBef>
                <a:spcPct val="0"/>
              </a:spcBef>
            </a:pPr>
            <a:r>
              <a:rPr lang="en-US" b="true" sz="332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DEPT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631133" y="6275871"/>
            <a:ext cx="228768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87"/>
              </a:lnSpc>
              <a:spcBef>
                <a:spcPct val="0"/>
              </a:spcBef>
            </a:pPr>
            <a:r>
              <a:rPr lang="en-US" b="true" sz="2656" u="sng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References: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537241" y="7018223"/>
            <a:ext cx="11750759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04727" indent="-202363" lvl="1">
              <a:lnSpc>
                <a:spcPts val="2249"/>
              </a:lnSpc>
              <a:buFont typeface="Arial"/>
              <a:buChar char="•"/>
            </a:pPr>
            <a:r>
              <a:rPr lang="en-US" b="true" sz="1874">
                <a:solidFill>
                  <a:srgbClr val="0070C0"/>
                </a:solidFill>
                <a:latin typeface="Arimo Bold"/>
                <a:ea typeface="Arimo Bold"/>
                <a:cs typeface="Arimo Bold"/>
                <a:sym typeface="Arimo Bold"/>
              </a:rPr>
              <a:t>Design of M</a:t>
            </a:r>
            <a:r>
              <a:rPr lang="en-US" b="true" sz="1874">
                <a:solidFill>
                  <a:srgbClr val="0070C0"/>
                </a:solidFill>
                <a:latin typeface="Arimo Bold"/>
                <a:ea typeface="Arimo Bold"/>
                <a:cs typeface="Arimo Bold"/>
                <a:sym typeface="Arimo Bold"/>
              </a:rPr>
              <a:t>odular Smart Electric Fence System with Fall-back Communication Interface</a:t>
            </a:r>
            <a:r>
              <a:rPr lang="en-US" b="true" sz="1874" u="sng">
                <a:solidFill>
                  <a:srgbClr val="0070C0"/>
                </a:solidFill>
                <a:latin typeface="Arimo Bold"/>
                <a:ea typeface="Arimo Bold"/>
                <a:cs typeface="Arimo Bold"/>
                <a:sym typeface="Arimo Bold"/>
                <a:hlinkClick r:id="rId5" tooltip="https://ieeexplore.ieee.org/document/10080302"/>
              </a:rPr>
              <a:t> https://ieeexplore.ieee.org/document/10080302 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448969" y="7648070"/>
            <a:ext cx="9909261" cy="1409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04727" indent="-202363" lvl="1">
              <a:lnSpc>
                <a:spcPts val="2249"/>
              </a:lnSpc>
              <a:buFont typeface="Arial"/>
              <a:buChar char="•"/>
            </a:pPr>
            <a:r>
              <a:rPr lang="en-US" b="true" sz="1874">
                <a:solidFill>
                  <a:srgbClr val="0070C0"/>
                </a:solidFill>
                <a:latin typeface="Arimo Bold"/>
                <a:ea typeface="Arimo Bold"/>
                <a:cs typeface="Arimo Bold"/>
                <a:sym typeface="Arimo Bold"/>
              </a:rPr>
              <a:t>IS 302-2-76 (1999): Safety of H</a:t>
            </a:r>
            <a:r>
              <a:rPr lang="en-US" b="true" sz="1874">
                <a:solidFill>
                  <a:srgbClr val="0070C0"/>
                </a:solidFill>
                <a:latin typeface="Arimo Bold"/>
                <a:ea typeface="Arimo Bold"/>
                <a:cs typeface="Arimo Bold"/>
                <a:sym typeface="Arimo Bold"/>
              </a:rPr>
              <a:t>ousehold and Similar Electrical Appliances,</a:t>
            </a:r>
          </a:p>
          <a:p>
            <a:pPr algn="l" marL="404727" indent="-202363" lvl="1">
              <a:lnSpc>
                <a:spcPts val="2249"/>
              </a:lnSpc>
              <a:buFont typeface="Arial"/>
              <a:buChar char="•"/>
            </a:pPr>
            <a:r>
              <a:rPr lang="en-US" b="true" sz="1874" u="sng">
                <a:solidFill>
                  <a:srgbClr val="0070C0"/>
                </a:solidFill>
                <a:latin typeface="Arimo Bold"/>
                <a:ea typeface="Arimo Bold"/>
                <a:cs typeface="Arimo Bold"/>
                <a:sym typeface="Arimo Bold"/>
                <a:hlinkClick r:id="rId6" tooltip="https://law.resource.org/pub/in/bis/S05/is.302.2.76.1999.pdf"/>
              </a:rPr>
              <a:t>https://law.resource.org/pub/in/bis/S05/is.302.2.76.1999.pdf</a:t>
            </a:r>
          </a:p>
          <a:p>
            <a:pPr algn="l" marL="404727" indent="-202363" lvl="1">
              <a:lnSpc>
                <a:spcPts val="2249"/>
              </a:lnSpc>
              <a:buFont typeface="Arial"/>
              <a:buChar char="•"/>
            </a:pPr>
            <a:r>
              <a:rPr lang="en-US" b="true" sz="1874" u="sng">
                <a:solidFill>
                  <a:srgbClr val="0070C0"/>
                </a:solidFill>
                <a:latin typeface="Arimo Bold"/>
                <a:ea typeface="Arimo Bold"/>
                <a:cs typeface="Arimo Bold"/>
                <a:sym typeface="Arimo Bold"/>
              </a:rPr>
              <a:t>https://www.researchgate.net/publication/375016423_Development_of_agriculture_electric_fence_monitoring_and_notification_system_using_Blynk_application</a:t>
            </a:r>
          </a:p>
          <a:p>
            <a:pPr algn="l">
              <a:lnSpc>
                <a:spcPts val="2249"/>
              </a:lnSpc>
            </a:pPr>
            <a:r>
              <a:rPr lang="en-US" sz="1874">
                <a:solidFill>
                  <a:srgbClr val="0070C0"/>
                </a:solidFill>
                <a:latin typeface="Arimo"/>
                <a:ea typeface="Arimo"/>
                <a:cs typeface="Arimo"/>
                <a:sym typeface="Arimo"/>
              </a:rPr>
              <a:t>  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111005" y="1959512"/>
            <a:ext cx="2901454" cy="390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67"/>
              </a:lnSpc>
              <a:spcBef>
                <a:spcPct val="0"/>
              </a:spcBef>
            </a:pPr>
            <a:r>
              <a:rPr lang="en-US" b="true" sz="2556" u="sng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Cost Estimation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652547" y="1832286"/>
            <a:ext cx="2045705" cy="503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30"/>
              </a:lnSpc>
              <a:spcBef>
                <a:spcPct val="0"/>
              </a:spcBef>
            </a:pPr>
            <a:r>
              <a:rPr lang="en-US" b="true" sz="2941" u="sng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MENTORS</a:t>
            </a:r>
            <a:r>
              <a:rPr lang="en-US" b="true" sz="294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: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850592" y="3070329"/>
            <a:ext cx="2728212" cy="619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53"/>
              </a:lnSpc>
              <a:spcBef>
                <a:spcPct val="0"/>
              </a:spcBef>
            </a:pPr>
            <a:r>
              <a:rPr lang="en-US" b="true" sz="196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Dr.N.M</a:t>
            </a:r>
            <a:r>
              <a:rPr lang="en-US" b="true" sz="196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anikanda Prabhu</a:t>
            </a:r>
          </a:p>
          <a:p>
            <a:pPr algn="l">
              <a:lnSpc>
                <a:spcPts val="2353"/>
              </a:lnSpc>
              <a:spcBef>
                <a:spcPct val="0"/>
              </a:spcBef>
            </a:pPr>
            <a:r>
              <a:rPr lang="en-US" sz="196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Assistant Professor ECE  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392116" y="2547001"/>
            <a:ext cx="2587800" cy="430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7"/>
              </a:lnSpc>
              <a:spcBef>
                <a:spcPct val="0"/>
              </a:spcBef>
            </a:pPr>
            <a:r>
              <a:rPr lang="en-US" b="true" sz="2506" u="sng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Faculty mentor: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850592" y="4293604"/>
            <a:ext cx="5001995" cy="1305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6"/>
              </a:lnSpc>
              <a:spcBef>
                <a:spcPct val="0"/>
              </a:spcBef>
            </a:pPr>
            <a:r>
              <a:rPr lang="en-US" b="true" sz="2138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Dr. N</a:t>
            </a:r>
            <a:r>
              <a:rPr lang="en-US" b="true" sz="2138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agarajan Subramaniyam -  </a:t>
            </a:r>
          </a:p>
          <a:p>
            <a:pPr algn="l">
              <a:lnSpc>
                <a:spcPts val="2566"/>
              </a:lnSpc>
              <a:spcBef>
                <a:spcPct val="0"/>
              </a:spcBef>
            </a:pPr>
            <a:r>
              <a:rPr lang="en-US" sz="213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CEO, Xfold imaging Oy Vasaramaki 4D 22 </a:t>
            </a:r>
          </a:p>
          <a:p>
            <a:pPr algn="l">
              <a:lnSpc>
                <a:spcPts val="2566"/>
              </a:lnSpc>
              <a:spcBef>
                <a:spcPct val="0"/>
              </a:spcBef>
            </a:pPr>
            <a:r>
              <a:rPr lang="en-US" sz="213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Espoo 02750 Finland</a:t>
            </a:r>
          </a:p>
          <a:p>
            <a:pPr algn="l">
              <a:lnSpc>
                <a:spcPts val="2566"/>
              </a:lnSpc>
              <a:spcBef>
                <a:spcPct val="0"/>
              </a:spcBef>
            </a:pPr>
          </a:p>
        </p:txBody>
      </p:sp>
      <p:sp>
        <p:nvSpPr>
          <p:cNvPr name="TextBox 31" id="31"/>
          <p:cNvSpPr txBox="true"/>
          <p:nvPr/>
        </p:nvSpPr>
        <p:spPr>
          <a:xfrm rot="0">
            <a:off x="6392116" y="3767386"/>
            <a:ext cx="2998430" cy="461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68"/>
              </a:lnSpc>
              <a:spcBef>
                <a:spcPct val="0"/>
              </a:spcBef>
            </a:pPr>
            <a:r>
              <a:rPr lang="en-US" b="true" sz="2723" u="sng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Industrial mentor: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781300" y="6032036"/>
            <a:ext cx="5506699" cy="414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78"/>
              </a:lnSpc>
              <a:spcBef>
                <a:spcPct val="0"/>
              </a:spcBef>
            </a:pPr>
            <a:r>
              <a:rPr lang="en-US" b="true" sz="2648" u="sng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~₹3000</a:t>
            </a:r>
          </a:p>
        </p:txBody>
      </p:sp>
      <p:graphicFrame>
        <p:nvGraphicFramePr>
          <p:cNvPr name="Object 33" id="33"/>
          <p:cNvGraphicFramePr/>
          <p:nvPr/>
        </p:nvGraphicFramePr>
        <p:xfrm>
          <a:off x="12182499" y="2604151"/>
          <a:ext cx="3771900" cy="3352800"/>
        </p:xfrm>
        <a:graphic>
          <a:graphicData uri="http://schemas.openxmlformats.org/presentationml/2006/ole">
            <p:oleObj imgW="4521200" imgH="4102100" r:id="rId8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7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DAGyS6lgdpM</dc:identifier>
  <dcterms:modified xsi:type="dcterms:W3CDTF">2011-08-01T06:04:30Z</dcterms:modified>
  <cp:revision>1</cp:revision>
  <dc:title>Quantum Leap</dc:title>
</cp:coreProperties>
</file>